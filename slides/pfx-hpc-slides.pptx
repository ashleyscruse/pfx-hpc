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In the next hour you'll write Python and run it on a real supercomputer. No experience needed. Get them curious, not intimidated.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emotional core of the talk. Slow down here. The point is access and belonging, not speed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 to the specs, and lead with scale: one node, thousands of nodes, 250 reserved for this room. No laptop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the three words before the demo. Point at each box: a core is one worker, a node packs 56 of them, the cluster is thousands of nodes.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rule: the login node is like the waiting room at the doctor's office. Everyone passes through it. Imagine the doctor tried to treat everyone right there in the waiting room at once, no privacy, everything crammed together, nothing done well. That's what running heavy computation on the login node does to everyone sharing it. For real work you go to a private room: a compute node.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the email questions. A job is just a request handed to the scheduler; the queue is the waiting line. Tie it to what they did: TAP submitted a job for them, and the reservation skipped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the one or two examples that will excite this particular room. These are all documented real uses of Frontera.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concept the notebook's parallel demo pays off. Keep it to one sentence: many cores,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isn't to teach Python today. It's that Python is the on-ramp: the same language scales all the way up to a supercomputer.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It's fast-paced and hands-on. Reassure: you'll do it together, cell by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sets up the reveal in the notebook's first cell (hostname). Tell them to watch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belonging message, then switch to the browser and open TAP together. This is the transition into the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Frontera because I expected about 250 people and needed to reserve at least 250 nodes; Frontera has the capacity for a group that size. But you're not limited to it. Reach for Vista when your work needs GPUs, that's the AI and machine-learning machine. Stampede3 is a strong general-purpose CPU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it out. They now have real access to three national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40028"/>
        </a:solidFill>
      </p:bgPr>
    </p:bg>
    <p:spTree>
      <p:nvGrpSpPr>
        <p:cNvPr id="1" name=""/>
        <p:cNvGrpSpPr/>
        <p:nvPr/>
      </p:nvGrpSpPr>
      <p:grpSpPr>
        <a:xfrm>
          <a:off x="0" y="0"/>
          <a:ext cx="0" cy="0"/>
          <a:chOff x="0" y="0"/>
          <a:chExt cx="0" cy="0"/>
        </a:xfrm>
      </p:grpSpPr>
      <p:sp>
        <p:nvSpPr>
          <p:cNvPr id="2" name="Shape 0"/>
          <p:cNvSpPr/>
          <p:nvPr/>
        </p:nvSpPr>
        <p:spPr>
          <a:xfrm>
            <a:off x="640080" y="640080"/>
            <a:ext cx="502920" cy="502920"/>
          </a:xfrm>
          <a:prstGeom prst="ellipse">
            <a:avLst/>
          </a:prstGeom>
          <a:ln w="38100">
            <a:solidFill>
              <a:srgbClr val="C1A231"/>
            </a:solidFill>
            <a:prstDash val="solid"/>
          </a:ln>
        </p:spPr>
      </p:sp>
      <p:sp>
        <p:nvSpPr>
          <p:cNvPr id="3" name="Text 1"/>
          <p:cNvSpPr/>
          <p:nvPr/>
        </p:nvSpPr>
        <p:spPr>
          <a:xfrm>
            <a:off x="1325880" y="713232"/>
            <a:ext cx="7315200" cy="365760"/>
          </a:xfrm>
          <a:prstGeom prst="rect">
            <a:avLst/>
          </a:prstGeom>
          <a:noFill/>
          <a:ln/>
        </p:spPr>
        <p:txBody>
          <a:bodyPr wrap="square" lIns="0" tIns="0" rIns="0" bIns="0" rtlCol="0" anchor="ctr"/>
          <a:lstStyle/>
          <a:p>
            <a:pPr indent="0" marL="0">
              <a:buNone/>
            </a:pPr>
            <a:r>
              <a:rPr lang="en-US" sz="1400" b="1" spc="300" kern="0" dirty="0">
                <a:solidFill>
                  <a:srgbClr val="C1A231"/>
                </a:solidFill>
                <a:latin typeface="Arial" pitchFamily="34" charset="0"/>
                <a:ea typeface="Arial" pitchFamily="34" charset="-122"/>
                <a:cs typeface="Arial" pitchFamily="34" charset="-120"/>
              </a:rPr>
              <a:t>PFX  PRE-FRESHMAN  PROGRAM</a:t>
            </a:r>
            <a:endParaRPr lang="en-US" sz="1400" dirty="0"/>
          </a:p>
        </p:txBody>
      </p:sp>
      <p:sp>
        <p:nvSpPr>
          <p:cNvPr id="4" name="Text 2"/>
          <p:cNvSpPr/>
          <p:nvPr/>
        </p:nvSpPr>
        <p:spPr>
          <a:xfrm>
            <a:off x="640080" y="1508760"/>
            <a:ext cx="10972800" cy="310896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Arial" pitchFamily="34" charset="0"/>
                <a:ea typeface="Arial" pitchFamily="34" charset="-122"/>
                <a:cs typeface="Arial" pitchFamily="34" charset="-120"/>
              </a:rPr>
              <a:t>Unlocking What's Possible</a:t>
            </a:r>
            <a:endParaRPr lang="en-US" sz="4000" dirty="0"/>
          </a:p>
          <a:p>
            <a:pPr indent="0" marL="0">
              <a:lnSpc>
                <a:spcPts val="4600"/>
              </a:lnSpc>
              <a:buNone/>
            </a:pPr>
            <a:r>
              <a:rPr lang="en-US" sz="4000" b="1" dirty="0">
                <a:solidFill>
                  <a:srgbClr val="FFFFFF"/>
                </a:solidFill>
                <a:latin typeface="Arial" pitchFamily="34" charset="0"/>
                <a:ea typeface="Arial" pitchFamily="34" charset="-122"/>
                <a:cs typeface="Arial" pitchFamily="34" charset="-120"/>
              </a:rPr>
              <a:t>Through Data &amp;</a:t>
            </a:r>
            <a:endParaRPr lang="en-US" sz="4000" dirty="0"/>
          </a:p>
          <a:p>
            <a:pPr indent="0" marL="0">
              <a:lnSpc>
                <a:spcPts val="4600"/>
              </a:lnSpc>
              <a:buNone/>
            </a:pPr>
            <a:r>
              <a:rPr lang="en-US" sz="4000" b="1" dirty="0">
                <a:solidFill>
                  <a:srgbClr val="FFFFFF"/>
                </a:solidFill>
                <a:latin typeface="Arial" pitchFamily="34" charset="0"/>
                <a:ea typeface="Arial" pitchFamily="34" charset="-122"/>
                <a:cs typeface="Arial" pitchFamily="34" charset="-120"/>
              </a:rPr>
              <a:t>High-Performance Computing</a:t>
            </a:r>
            <a:endParaRPr lang="en-US" sz="4000" dirty="0"/>
          </a:p>
        </p:txBody>
      </p:sp>
      <p:sp>
        <p:nvSpPr>
          <p:cNvPr id="5" name="Text 3"/>
          <p:cNvSpPr/>
          <p:nvPr/>
        </p:nvSpPr>
        <p:spPr>
          <a:xfrm>
            <a:off x="640080" y="4800600"/>
            <a:ext cx="10058400" cy="548640"/>
          </a:xfrm>
          <a:prstGeom prst="rect">
            <a:avLst/>
          </a:prstGeom>
          <a:noFill/>
          <a:ln/>
        </p:spPr>
        <p:txBody>
          <a:bodyPr wrap="square" lIns="0" tIns="0" rIns="0" bIns="0" rtlCol="0" anchor="ctr"/>
          <a:lstStyle/>
          <a:p>
            <a:pPr indent="0" marL="0">
              <a:buNone/>
            </a:pPr>
            <a:r>
              <a:rPr lang="en-US" sz="2000" i="1" dirty="0">
                <a:solidFill>
                  <a:srgbClr val="C1A231"/>
                </a:solidFill>
                <a:latin typeface="Calibri" pitchFamily="34" charset="0"/>
                <a:ea typeface="Calibri" pitchFamily="34" charset="-122"/>
                <a:cs typeface="Calibri" pitchFamily="34" charset="-120"/>
              </a:rPr>
              <a:t>A hands-on hour writing Python on Frontera, a research supercomputer at TACC.</a:t>
            </a:r>
            <a:endParaRPr lang="en-US" sz="2000" dirty="0"/>
          </a:p>
        </p:txBody>
      </p:sp>
      <p:sp>
        <p:nvSpPr>
          <p:cNvPr id="6" name="Text 4"/>
          <p:cNvSpPr/>
          <p:nvPr/>
        </p:nvSpPr>
        <p:spPr>
          <a:xfrm>
            <a:off x="640080" y="5989320"/>
            <a:ext cx="10058400" cy="365760"/>
          </a:xfrm>
          <a:prstGeom prst="rect">
            <a:avLst/>
          </a:prstGeom>
          <a:noFill/>
          <a:ln/>
        </p:spPr>
        <p:txBody>
          <a:bodyPr wrap="square" lIns="0" tIns="0" rIns="0" bIns="0" rtlCol="0" anchor="ctr"/>
          <a:lstStyle/>
          <a:p>
            <a:pPr indent="0" marL="0">
              <a:buNone/>
            </a:pPr>
            <a:r>
              <a:rPr lang="en-US" sz="1400" dirty="0">
                <a:solidFill>
                  <a:srgbClr val="E9D9DE"/>
                </a:solidFill>
                <a:latin typeface="Calibri" pitchFamily="34" charset="0"/>
                <a:ea typeface="Calibri" pitchFamily="34" charset="-122"/>
                <a:cs typeface="Calibri" pitchFamily="34" charset="-120"/>
              </a:rPr>
              <a:t>Morehouse College  ·  Center for Broadening Participation in Computing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5A001C"/>
        </a:solidFill>
      </p:bgPr>
    </p:bg>
    <p:spTree>
      <p:nvGrpSpPr>
        <p:cNvPr id="1" name=""/>
        <p:cNvGrpSpPr/>
        <p:nvPr/>
      </p:nvGrpSpPr>
      <p:grpSpPr>
        <a:xfrm>
          <a:off x="0" y="0"/>
          <a:ext cx="0" cy="0"/>
          <a:chOff x="0" y="0"/>
          <a:chExt cx="0" cy="0"/>
        </a:xfrm>
      </p:grpSpPr>
      <p:sp>
        <p:nvSpPr>
          <p:cNvPr id="2" name="Text 0"/>
          <p:cNvSpPr/>
          <p:nvPr/>
        </p:nvSpPr>
        <p:spPr>
          <a:xfrm>
            <a:off x="640080" y="1920240"/>
            <a:ext cx="10881360" cy="237744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Arial" pitchFamily="34" charset="0"/>
                <a:ea typeface="Arial" pitchFamily="34" charset="-122"/>
                <a:cs typeface="Arial" pitchFamily="34" charset="-120"/>
              </a:rPr>
              <a:t>Today you get time on a research supercomputer.</a:t>
            </a:r>
            <a:endParaRPr lang="en-US" sz="4000" dirty="0"/>
          </a:p>
        </p:txBody>
      </p:sp>
      <p:sp>
        <p:nvSpPr>
          <p:cNvPr id="3" name="Text 1"/>
          <p:cNvSpPr/>
          <p:nvPr/>
        </p:nvSpPr>
        <p:spPr>
          <a:xfrm>
            <a:off x="640080" y="4389120"/>
            <a:ext cx="10058400" cy="1097280"/>
          </a:xfrm>
          <a:prstGeom prst="rect">
            <a:avLst/>
          </a:prstGeom>
          <a:noFill/>
          <a:ln/>
        </p:spPr>
        <p:txBody>
          <a:bodyPr wrap="square" lIns="0" tIns="0" rIns="0" bIns="0" rtlCol="0" anchor="ctr"/>
          <a:lstStyle/>
          <a:p>
            <a:pPr indent="0" marL="0">
              <a:buNone/>
            </a:pPr>
            <a:r>
              <a:rPr lang="en-US" sz="1900" dirty="0">
                <a:solidFill>
                  <a:srgbClr val="E9D9DE"/>
                </a:solidFill>
                <a:latin typeface="Calibri" pitchFamily="34" charset="0"/>
                <a:ea typeface="Calibri" pitchFamily="34" charset="-122"/>
                <a:cs typeface="Calibri" pitchFamily="34" charset="-120"/>
              </a:rPr>
              <a:t>Frontera is a shared research system at the Texas Advanced Computing Center in Austin, Texas. Researchers apply for time on it. This morning, it's yours.</a:t>
            </a:r>
            <a:endParaRPr lang="en-US" sz="1900" dirty="0"/>
          </a:p>
        </p:txBody>
      </p:sp>
      <p:sp>
        <p:nvSpPr>
          <p:cNvPr id="4" name="Text 2"/>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48640"/>
            <a:ext cx="5486400" cy="320040"/>
          </a:xfrm>
          <a:prstGeom prst="rect">
            <a:avLst/>
          </a:prstGeom>
          <a:noFill/>
          <a:ln/>
        </p:spPr>
        <p:txBody>
          <a:bodyPr wrap="square" lIns="0" tIns="0" rIns="0" bIns="0" rtlCol="0" anchor="ctr"/>
          <a:lstStyle/>
          <a:p>
            <a:pPr algn="l" indent="0" marL="0">
              <a:buNone/>
            </a:pPr>
            <a:r>
              <a:rPr lang="en-US" sz="1300" b="1" spc="300" kern="0" dirty="0">
                <a:solidFill>
                  <a:srgbClr val="C1A231"/>
                </a:solidFill>
                <a:latin typeface="Arial" pitchFamily="34" charset="0"/>
                <a:ea typeface="Arial" pitchFamily="34" charset="-122"/>
                <a:cs typeface="Arial" pitchFamily="34" charset="-120"/>
              </a:rPr>
              <a:t>MEET FRONTERA</a:t>
            </a:r>
            <a:endParaRPr lang="en-US" sz="1300" dirty="0"/>
          </a:p>
        </p:txBody>
      </p:sp>
      <p:sp>
        <p:nvSpPr>
          <p:cNvPr id="3" name="Text 1"/>
          <p:cNvSpPr/>
          <p:nvPr/>
        </p:nvSpPr>
        <p:spPr>
          <a:xfrm>
            <a:off x="640080" y="868680"/>
            <a:ext cx="10972800" cy="822960"/>
          </a:xfrm>
          <a:prstGeom prst="rect">
            <a:avLst/>
          </a:prstGeom>
          <a:noFill/>
          <a:ln/>
        </p:spPr>
        <p:txBody>
          <a:bodyPr wrap="square" lIns="0" tIns="0" rIns="0" bIns="0" rtlCol="0" anchor="ctr"/>
          <a:lstStyle/>
          <a:p>
            <a:pPr indent="0" marL="0">
              <a:buNone/>
            </a:pPr>
            <a:r>
              <a:rPr lang="en-US" sz="3200" b="1" dirty="0">
                <a:solidFill>
                  <a:srgbClr val="840028"/>
                </a:solidFill>
                <a:latin typeface="Arial" pitchFamily="34" charset="0"/>
                <a:ea typeface="Arial" pitchFamily="34" charset="-122"/>
                <a:cs typeface="Arial" pitchFamily="34" charset="-120"/>
              </a:rPr>
              <a:t>Frontera by the numbers</a:t>
            </a:r>
            <a:endParaRPr lang="en-US" sz="3200" dirty="0"/>
          </a:p>
        </p:txBody>
      </p:sp>
      <p:sp>
        <p:nvSpPr>
          <p:cNvPr id="4" name="Shape 2"/>
          <p:cNvSpPr/>
          <p:nvPr/>
        </p:nvSpPr>
        <p:spPr>
          <a:xfrm>
            <a:off x="640080" y="2286000"/>
            <a:ext cx="2514600" cy="2514600"/>
          </a:xfrm>
          <a:prstGeom prst="rect">
            <a:avLst/>
          </a:prstGeom>
          <a:solidFill>
            <a:srgbClr val="EFEDEA"/>
          </a:solidFill>
          <a:ln w="12700">
            <a:solidFill>
              <a:srgbClr val="EFEDEA"/>
            </a:solidFill>
            <a:prstDash val="solid"/>
          </a:ln>
        </p:spPr>
      </p:sp>
      <p:sp>
        <p:nvSpPr>
          <p:cNvPr id="5" name="Text 3"/>
          <p:cNvSpPr/>
          <p:nvPr/>
        </p:nvSpPr>
        <p:spPr>
          <a:xfrm>
            <a:off x="640080" y="2560320"/>
            <a:ext cx="2514600" cy="1097280"/>
          </a:xfrm>
          <a:prstGeom prst="rect">
            <a:avLst/>
          </a:prstGeom>
          <a:noFill/>
          <a:ln/>
        </p:spPr>
        <p:txBody>
          <a:bodyPr wrap="square" lIns="0" tIns="0" rIns="0" bIns="0" rtlCol="0" anchor="ctr"/>
          <a:lstStyle/>
          <a:p>
            <a:pPr algn="ctr" indent="0" marL="0">
              <a:buNone/>
            </a:pPr>
            <a:r>
              <a:rPr lang="en-US" sz="4600" b="1" dirty="0">
                <a:solidFill>
                  <a:srgbClr val="840028"/>
                </a:solidFill>
                <a:latin typeface="Arial" pitchFamily="34" charset="0"/>
                <a:ea typeface="Arial" pitchFamily="34" charset="-122"/>
                <a:cs typeface="Arial" pitchFamily="34" charset="-120"/>
              </a:rPr>
              <a:t>8,368</a:t>
            </a:r>
            <a:endParaRPr lang="en-US" sz="4600" dirty="0"/>
          </a:p>
        </p:txBody>
      </p:sp>
      <p:sp>
        <p:nvSpPr>
          <p:cNvPr id="6" name="Text 4"/>
          <p:cNvSpPr/>
          <p:nvPr/>
        </p:nvSpPr>
        <p:spPr>
          <a:xfrm>
            <a:off x="777240" y="3703320"/>
            <a:ext cx="2240280" cy="960120"/>
          </a:xfrm>
          <a:prstGeom prst="rect">
            <a:avLst/>
          </a:prstGeom>
          <a:noFill/>
          <a:ln/>
        </p:spPr>
        <p:txBody>
          <a:bodyPr wrap="square" lIns="0" tIns="0" rIns="0" bIns="0" rtlCol="0" anchor="t"/>
          <a:lstStyle/>
          <a:p>
            <a:pPr algn="ctr" indent="0" marL="0">
              <a:buNone/>
            </a:pPr>
            <a:r>
              <a:rPr lang="en-US" sz="1500" dirty="0">
                <a:solidFill>
                  <a:srgbClr val="1A1A1A"/>
                </a:solidFill>
                <a:latin typeface="Calibri" pitchFamily="34" charset="0"/>
                <a:ea typeface="Calibri" pitchFamily="34" charset="-122"/>
                <a:cs typeface="Calibri" pitchFamily="34" charset="-120"/>
              </a:rPr>
              <a:t>compute nodes</a:t>
            </a:r>
            <a:endParaRPr lang="en-US" sz="1500" dirty="0"/>
          </a:p>
        </p:txBody>
      </p:sp>
      <p:sp>
        <p:nvSpPr>
          <p:cNvPr id="7" name="Shape 5"/>
          <p:cNvSpPr/>
          <p:nvPr/>
        </p:nvSpPr>
        <p:spPr>
          <a:xfrm>
            <a:off x="3474720" y="2286000"/>
            <a:ext cx="2514600" cy="2514600"/>
          </a:xfrm>
          <a:prstGeom prst="rect">
            <a:avLst/>
          </a:prstGeom>
          <a:solidFill>
            <a:srgbClr val="EFEDEA"/>
          </a:solidFill>
          <a:ln w="12700">
            <a:solidFill>
              <a:srgbClr val="EFEDEA"/>
            </a:solidFill>
            <a:prstDash val="solid"/>
          </a:ln>
        </p:spPr>
      </p:sp>
      <p:sp>
        <p:nvSpPr>
          <p:cNvPr id="8" name="Text 6"/>
          <p:cNvSpPr/>
          <p:nvPr/>
        </p:nvSpPr>
        <p:spPr>
          <a:xfrm>
            <a:off x="3474720" y="2560320"/>
            <a:ext cx="2514600" cy="1097280"/>
          </a:xfrm>
          <a:prstGeom prst="rect">
            <a:avLst/>
          </a:prstGeom>
          <a:noFill/>
          <a:ln/>
        </p:spPr>
        <p:txBody>
          <a:bodyPr wrap="square" lIns="0" tIns="0" rIns="0" bIns="0" rtlCol="0" anchor="ctr"/>
          <a:lstStyle/>
          <a:p>
            <a:pPr algn="ctr" indent="0" marL="0">
              <a:buNone/>
            </a:pPr>
            <a:r>
              <a:rPr lang="en-US" sz="4600" b="1" dirty="0">
                <a:solidFill>
                  <a:srgbClr val="840028"/>
                </a:solidFill>
                <a:latin typeface="Arial" pitchFamily="34" charset="0"/>
                <a:ea typeface="Arial" pitchFamily="34" charset="-122"/>
                <a:cs typeface="Arial" pitchFamily="34" charset="-120"/>
              </a:rPr>
              <a:t>56</a:t>
            </a:r>
            <a:endParaRPr lang="en-US" sz="4600" dirty="0"/>
          </a:p>
        </p:txBody>
      </p:sp>
      <p:sp>
        <p:nvSpPr>
          <p:cNvPr id="9" name="Text 7"/>
          <p:cNvSpPr/>
          <p:nvPr/>
        </p:nvSpPr>
        <p:spPr>
          <a:xfrm>
            <a:off x="3611880" y="3703320"/>
            <a:ext cx="2240280" cy="960120"/>
          </a:xfrm>
          <a:prstGeom prst="rect">
            <a:avLst/>
          </a:prstGeom>
          <a:noFill/>
          <a:ln/>
        </p:spPr>
        <p:txBody>
          <a:bodyPr wrap="square" lIns="0" tIns="0" rIns="0" bIns="0" rtlCol="0" anchor="t"/>
          <a:lstStyle/>
          <a:p>
            <a:pPr algn="ctr" indent="0" marL="0">
              <a:buNone/>
            </a:pPr>
            <a:r>
              <a:rPr lang="en-US" sz="1500" dirty="0">
                <a:solidFill>
                  <a:srgbClr val="1A1A1A"/>
                </a:solidFill>
                <a:latin typeface="Calibri" pitchFamily="34" charset="0"/>
                <a:ea typeface="Calibri" pitchFamily="34" charset="-122"/>
                <a:cs typeface="Calibri" pitchFamily="34" charset="-120"/>
              </a:rPr>
              <a:t>cores per node</a:t>
            </a:r>
            <a:endParaRPr lang="en-US" sz="1500" dirty="0"/>
          </a:p>
        </p:txBody>
      </p:sp>
      <p:sp>
        <p:nvSpPr>
          <p:cNvPr id="10" name="Shape 8"/>
          <p:cNvSpPr/>
          <p:nvPr/>
        </p:nvSpPr>
        <p:spPr>
          <a:xfrm>
            <a:off x="6309360" y="2286000"/>
            <a:ext cx="2514600" cy="2514600"/>
          </a:xfrm>
          <a:prstGeom prst="rect">
            <a:avLst/>
          </a:prstGeom>
          <a:solidFill>
            <a:srgbClr val="EFEDEA"/>
          </a:solidFill>
          <a:ln w="12700">
            <a:solidFill>
              <a:srgbClr val="EFEDEA"/>
            </a:solidFill>
            <a:prstDash val="solid"/>
          </a:ln>
        </p:spPr>
      </p:sp>
      <p:sp>
        <p:nvSpPr>
          <p:cNvPr id="11" name="Text 9"/>
          <p:cNvSpPr/>
          <p:nvPr/>
        </p:nvSpPr>
        <p:spPr>
          <a:xfrm>
            <a:off x="6309360" y="2560320"/>
            <a:ext cx="2514600" cy="1097280"/>
          </a:xfrm>
          <a:prstGeom prst="rect">
            <a:avLst/>
          </a:prstGeom>
          <a:noFill/>
          <a:ln/>
        </p:spPr>
        <p:txBody>
          <a:bodyPr wrap="square" lIns="0" tIns="0" rIns="0" bIns="0" rtlCol="0" anchor="ctr"/>
          <a:lstStyle/>
          <a:p>
            <a:pPr algn="ctr" indent="0" marL="0">
              <a:buNone/>
            </a:pPr>
            <a:r>
              <a:rPr lang="en-US" sz="4600" b="1" dirty="0">
                <a:solidFill>
                  <a:srgbClr val="840028"/>
                </a:solidFill>
                <a:latin typeface="Arial" pitchFamily="34" charset="0"/>
                <a:ea typeface="Arial" pitchFamily="34" charset="-122"/>
                <a:cs typeface="Arial" pitchFamily="34" charset="-120"/>
              </a:rPr>
              <a:t>468,608</a:t>
            </a:r>
            <a:endParaRPr lang="en-US" sz="4600" dirty="0"/>
          </a:p>
        </p:txBody>
      </p:sp>
      <p:sp>
        <p:nvSpPr>
          <p:cNvPr id="12" name="Text 10"/>
          <p:cNvSpPr/>
          <p:nvPr/>
        </p:nvSpPr>
        <p:spPr>
          <a:xfrm>
            <a:off x="6446520" y="3703320"/>
            <a:ext cx="2240280" cy="960120"/>
          </a:xfrm>
          <a:prstGeom prst="rect">
            <a:avLst/>
          </a:prstGeom>
          <a:noFill/>
          <a:ln/>
        </p:spPr>
        <p:txBody>
          <a:bodyPr wrap="square" lIns="0" tIns="0" rIns="0" bIns="0" rtlCol="0" anchor="t"/>
          <a:lstStyle/>
          <a:p>
            <a:pPr algn="ctr" indent="0" marL="0">
              <a:buNone/>
            </a:pPr>
            <a:r>
              <a:rPr lang="en-US" sz="1500" dirty="0">
                <a:solidFill>
                  <a:srgbClr val="1A1A1A"/>
                </a:solidFill>
                <a:latin typeface="Calibri" pitchFamily="34" charset="0"/>
                <a:ea typeface="Calibri" pitchFamily="34" charset="-122"/>
                <a:cs typeface="Calibri" pitchFamily="34" charset="-120"/>
              </a:rPr>
              <a:t>processor cores</a:t>
            </a:r>
            <a:endParaRPr lang="en-US" sz="1500" dirty="0"/>
          </a:p>
          <a:p>
            <a:pPr algn="ctr" indent="0" marL="0">
              <a:buNone/>
            </a:pPr>
            <a:r>
              <a:rPr lang="en-US" sz="1500" dirty="0">
                <a:solidFill>
                  <a:srgbClr val="1A1A1A"/>
                </a:solidFill>
                <a:latin typeface="Calibri" pitchFamily="34" charset="0"/>
                <a:ea typeface="Calibri" pitchFamily="34" charset="-122"/>
                <a:cs typeface="Calibri" pitchFamily="34" charset="-120"/>
              </a:rPr>
              <a:t>in total</a:t>
            </a:r>
            <a:endParaRPr lang="en-US" sz="1500" dirty="0"/>
          </a:p>
        </p:txBody>
      </p:sp>
      <p:sp>
        <p:nvSpPr>
          <p:cNvPr id="13" name="Shape 11"/>
          <p:cNvSpPr/>
          <p:nvPr/>
        </p:nvSpPr>
        <p:spPr>
          <a:xfrm>
            <a:off x="9144000" y="2286000"/>
            <a:ext cx="2514600" cy="2514600"/>
          </a:xfrm>
          <a:prstGeom prst="rect">
            <a:avLst/>
          </a:prstGeom>
          <a:solidFill>
            <a:srgbClr val="EFEDEA"/>
          </a:solidFill>
          <a:ln w="12700">
            <a:solidFill>
              <a:srgbClr val="EFEDEA"/>
            </a:solidFill>
            <a:prstDash val="solid"/>
          </a:ln>
        </p:spPr>
      </p:sp>
      <p:sp>
        <p:nvSpPr>
          <p:cNvPr id="14" name="Text 12"/>
          <p:cNvSpPr/>
          <p:nvPr/>
        </p:nvSpPr>
        <p:spPr>
          <a:xfrm>
            <a:off x="9144000" y="2560320"/>
            <a:ext cx="2514600" cy="1097280"/>
          </a:xfrm>
          <a:prstGeom prst="rect">
            <a:avLst/>
          </a:prstGeom>
          <a:noFill/>
          <a:ln/>
        </p:spPr>
        <p:txBody>
          <a:bodyPr wrap="square" lIns="0" tIns="0" rIns="0" bIns="0" rtlCol="0" anchor="ctr"/>
          <a:lstStyle/>
          <a:p>
            <a:pPr algn="ctr" indent="0" marL="0">
              <a:buNone/>
            </a:pPr>
            <a:r>
              <a:rPr lang="en-US" sz="4600" b="1" dirty="0">
                <a:solidFill>
                  <a:srgbClr val="840028"/>
                </a:solidFill>
                <a:latin typeface="Arial" pitchFamily="34" charset="0"/>
                <a:ea typeface="Arial" pitchFamily="34" charset="-122"/>
                <a:cs typeface="Arial" pitchFamily="34" charset="-120"/>
              </a:rPr>
              <a:t>192 GB</a:t>
            </a:r>
            <a:endParaRPr lang="en-US" sz="4600" dirty="0"/>
          </a:p>
        </p:txBody>
      </p:sp>
      <p:sp>
        <p:nvSpPr>
          <p:cNvPr id="15" name="Text 13"/>
          <p:cNvSpPr/>
          <p:nvPr/>
        </p:nvSpPr>
        <p:spPr>
          <a:xfrm>
            <a:off x="9281160" y="3703320"/>
            <a:ext cx="2240280" cy="960120"/>
          </a:xfrm>
          <a:prstGeom prst="rect">
            <a:avLst/>
          </a:prstGeom>
          <a:noFill/>
          <a:ln/>
        </p:spPr>
        <p:txBody>
          <a:bodyPr wrap="square" lIns="0" tIns="0" rIns="0" bIns="0" rtlCol="0" anchor="t"/>
          <a:lstStyle/>
          <a:p>
            <a:pPr algn="ctr" indent="0" marL="0">
              <a:buNone/>
            </a:pPr>
            <a:r>
              <a:rPr lang="en-US" sz="1500" dirty="0">
                <a:solidFill>
                  <a:srgbClr val="1A1A1A"/>
                </a:solidFill>
                <a:latin typeface="Calibri" pitchFamily="34" charset="0"/>
                <a:ea typeface="Calibri" pitchFamily="34" charset="-122"/>
                <a:cs typeface="Calibri" pitchFamily="34" charset="-120"/>
              </a:rPr>
              <a:t>memory per node</a:t>
            </a:r>
            <a:endParaRPr lang="en-US" sz="1500" dirty="0"/>
          </a:p>
        </p:txBody>
      </p:sp>
      <p:sp>
        <p:nvSpPr>
          <p:cNvPr id="16" name="Text 14"/>
          <p:cNvSpPr/>
          <p:nvPr/>
        </p:nvSpPr>
        <p:spPr>
          <a:xfrm>
            <a:off x="640080" y="5257800"/>
            <a:ext cx="10972800" cy="457200"/>
          </a:xfrm>
          <a:prstGeom prst="rect">
            <a:avLst/>
          </a:prstGeom>
          <a:noFill/>
          <a:ln/>
        </p:spPr>
        <p:txBody>
          <a:bodyPr wrap="square" lIns="0" tIns="0" rIns="0" bIns="0" rtlCol="0" anchor="ctr"/>
          <a:lstStyle/>
          <a:p>
            <a:pPr indent="0" marL="0">
              <a:buNone/>
            </a:pPr>
            <a:r>
              <a:rPr lang="en-US" sz="1800" i="1" dirty="0">
                <a:solidFill>
                  <a:srgbClr val="6E6E70"/>
                </a:solidFill>
                <a:latin typeface="Calibri" pitchFamily="34" charset="0"/>
                <a:ea typeface="Calibri" pitchFamily="34" charset="-122"/>
                <a:cs typeface="Calibri" pitchFamily="34" charset="-120"/>
              </a:rPr>
              <a:t>One node has 56 cores. Frontera has 8,368 of them, and 250 are reserved just for this workshop.</a:t>
            </a:r>
            <a:endParaRPr lang="en-US" sz="1800" dirty="0"/>
          </a:p>
        </p:txBody>
      </p:sp>
      <p:sp>
        <p:nvSpPr>
          <p:cNvPr id="17" name="Text 15"/>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48640"/>
            <a:ext cx="5486400" cy="320040"/>
          </a:xfrm>
          <a:prstGeom prst="rect">
            <a:avLst/>
          </a:prstGeom>
          <a:noFill/>
          <a:ln/>
        </p:spPr>
        <p:txBody>
          <a:bodyPr wrap="square" lIns="0" tIns="0" rIns="0" bIns="0" rtlCol="0" anchor="ctr"/>
          <a:lstStyle/>
          <a:p>
            <a:pPr algn="l" indent="0" marL="0">
              <a:buNone/>
            </a:pPr>
            <a:r>
              <a:rPr lang="en-US" sz="1300" b="1" spc="300" kern="0" dirty="0">
                <a:solidFill>
                  <a:srgbClr val="C1A231"/>
                </a:solidFill>
                <a:latin typeface="Arial" pitchFamily="34" charset="0"/>
                <a:ea typeface="Arial" pitchFamily="34" charset="-122"/>
                <a:cs typeface="Arial" pitchFamily="34" charset="-120"/>
              </a:rPr>
              <a:t>THE BASICS</a:t>
            </a:r>
            <a:endParaRPr lang="en-US" sz="1300" dirty="0"/>
          </a:p>
        </p:txBody>
      </p:sp>
      <p:sp>
        <p:nvSpPr>
          <p:cNvPr id="3" name="Text 1"/>
          <p:cNvSpPr/>
          <p:nvPr/>
        </p:nvSpPr>
        <p:spPr>
          <a:xfrm>
            <a:off x="640080" y="868680"/>
            <a:ext cx="10972800" cy="822960"/>
          </a:xfrm>
          <a:prstGeom prst="rect">
            <a:avLst/>
          </a:prstGeom>
          <a:noFill/>
          <a:ln/>
        </p:spPr>
        <p:txBody>
          <a:bodyPr wrap="square" lIns="0" tIns="0" rIns="0" bIns="0" rtlCol="0" anchor="ctr"/>
          <a:lstStyle/>
          <a:p>
            <a:pPr indent="0" marL="0">
              <a:buNone/>
            </a:pPr>
            <a:r>
              <a:rPr lang="en-US" sz="3200" b="1" dirty="0">
                <a:solidFill>
                  <a:srgbClr val="840028"/>
                </a:solidFill>
                <a:latin typeface="Arial" pitchFamily="34" charset="0"/>
                <a:ea typeface="Arial" pitchFamily="34" charset="-122"/>
                <a:cs typeface="Arial" pitchFamily="34" charset="-120"/>
              </a:rPr>
              <a:t>The words we'll use</a:t>
            </a:r>
            <a:endParaRPr lang="en-US" sz="3200" dirty="0"/>
          </a:p>
        </p:txBody>
      </p:sp>
      <p:sp>
        <p:nvSpPr>
          <p:cNvPr id="4" name="Shape 2"/>
          <p:cNvSpPr/>
          <p:nvPr/>
        </p:nvSpPr>
        <p:spPr>
          <a:xfrm>
            <a:off x="640080" y="2103120"/>
            <a:ext cx="3429000" cy="3154680"/>
          </a:xfrm>
          <a:prstGeom prst="rect">
            <a:avLst/>
          </a:prstGeom>
          <a:solidFill>
            <a:srgbClr val="EFEDEA"/>
          </a:solidFill>
          <a:ln w="12700">
            <a:solidFill>
              <a:srgbClr val="EFEDEA"/>
            </a:solidFill>
            <a:prstDash val="solid"/>
          </a:ln>
        </p:spPr>
      </p:sp>
      <p:sp>
        <p:nvSpPr>
          <p:cNvPr id="5" name="Text 3"/>
          <p:cNvSpPr/>
          <p:nvPr/>
        </p:nvSpPr>
        <p:spPr>
          <a:xfrm>
            <a:off x="640080" y="2267712"/>
            <a:ext cx="3429000" cy="457200"/>
          </a:xfrm>
          <a:prstGeom prst="rect">
            <a:avLst/>
          </a:prstGeom>
          <a:noFill/>
          <a:ln/>
        </p:spPr>
        <p:txBody>
          <a:bodyPr wrap="square" lIns="0" tIns="0" rIns="0" bIns="0" rtlCol="0" anchor="ctr"/>
          <a:lstStyle/>
          <a:p>
            <a:pPr algn="ctr" indent="0" marL="0">
              <a:buNone/>
            </a:pPr>
            <a:r>
              <a:rPr lang="en-US" sz="2000" b="1" dirty="0">
                <a:solidFill>
                  <a:srgbClr val="840028"/>
                </a:solidFill>
                <a:latin typeface="Arial" pitchFamily="34" charset="0"/>
                <a:ea typeface="Arial" pitchFamily="34" charset="-122"/>
                <a:cs typeface="Arial" pitchFamily="34" charset="-120"/>
              </a:rPr>
              <a:t>CORE</a:t>
            </a:r>
            <a:endParaRPr lang="en-US" sz="2000" dirty="0"/>
          </a:p>
        </p:txBody>
      </p:sp>
      <p:sp>
        <p:nvSpPr>
          <p:cNvPr id="6" name="Shape 4"/>
          <p:cNvSpPr/>
          <p:nvPr/>
        </p:nvSpPr>
        <p:spPr>
          <a:xfrm>
            <a:off x="4572000" y="2103120"/>
            <a:ext cx="3429000" cy="3154680"/>
          </a:xfrm>
          <a:prstGeom prst="rect">
            <a:avLst/>
          </a:prstGeom>
          <a:solidFill>
            <a:srgbClr val="EFEDEA"/>
          </a:solidFill>
          <a:ln w="12700">
            <a:solidFill>
              <a:srgbClr val="EFEDEA"/>
            </a:solidFill>
            <a:prstDash val="solid"/>
          </a:ln>
        </p:spPr>
      </p:sp>
      <p:sp>
        <p:nvSpPr>
          <p:cNvPr id="7" name="Text 5"/>
          <p:cNvSpPr/>
          <p:nvPr/>
        </p:nvSpPr>
        <p:spPr>
          <a:xfrm>
            <a:off x="4572000" y="2267712"/>
            <a:ext cx="3429000" cy="457200"/>
          </a:xfrm>
          <a:prstGeom prst="rect">
            <a:avLst/>
          </a:prstGeom>
          <a:noFill/>
          <a:ln/>
        </p:spPr>
        <p:txBody>
          <a:bodyPr wrap="square" lIns="0" tIns="0" rIns="0" bIns="0" rtlCol="0" anchor="ctr"/>
          <a:lstStyle/>
          <a:p>
            <a:pPr algn="ctr" indent="0" marL="0">
              <a:buNone/>
            </a:pPr>
            <a:r>
              <a:rPr lang="en-US" sz="2000" b="1" dirty="0">
                <a:solidFill>
                  <a:srgbClr val="840028"/>
                </a:solidFill>
                <a:latin typeface="Arial" pitchFamily="34" charset="0"/>
                <a:ea typeface="Arial" pitchFamily="34" charset="-122"/>
                <a:cs typeface="Arial" pitchFamily="34" charset="-120"/>
              </a:rPr>
              <a:t>NODE</a:t>
            </a:r>
            <a:endParaRPr lang="en-US" sz="2000" dirty="0"/>
          </a:p>
        </p:txBody>
      </p:sp>
      <p:sp>
        <p:nvSpPr>
          <p:cNvPr id="8" name="Shape 6"/>
          <p:cNvSpPr/>
          <p:nvPr/>
        </p:nvSpPr>
        <p:spPr>
          <a:xfrm>
            <a:off x="8503920" y="2103120"/>
            <a:ext cx="3429000" cy="3154680"/>
          </a:xfrm>
          <a:prstGeom prst="rect">
            <a:avLst/>
          </a:prstGeom>
          <a:solidFill>
            <a:srgbClr val="EFEDEA"/>
          </a:solidFill>
          <a:ln w="12700">
            <a:solidFill>
              <a:srgbClr val="EFEDEA"/>
            </a:solidFill>
            <a:prstDash val="solid"/>
          </a:ln>
        </p:spPr>
      </p:sp>
      <p:sp>
        <p:nvSpPr>
          <p:cNvPr id="9" name="Text 7"/>
          <p:cNvSpPr/>
          <p:nvPr/>
        </p:nvSpPr>
        <p:spPr>
          <a:xfrm>
            <a:off x="8503920" y="2267712"/>
            <a:ext cx="3429000" cy="457200"/>
          </a:xfrm>
          <a:prstGeom prst="rect">
            <a:avLst/>
          </a:prstGeom>
          <a:noFill/>
          <a:ln/>
        </p:spPr>
        <p:txBody>
          <a:bodyPr wrap="square" lIns="0" tIns="0" rIns="0" bIns="0" rtlCol="0" anchor="ctr"/>
          <a:lstStyle/>
          <a:p>
            <a:pPr algn="ctr" indent="0" marL="0">
              <a:buNone/>
            </a:pPr>
            <a:r>
              <a:rPr lang="en-US" sz="2000" b="1" dirty="0">
                <a:solidFill>
                  <a:srgbClr val="840028"/>
                </a:solidFill>
                <a:latin typeface="Arial" pitchFamily="34" charset="0"/>
                <a:ea typeface="Arial" pitchFamily="34" charset="-122"/>
                <a:cs typeface="Arial" pitchFamily="34" charset="-120"/>
              </a:rPr>
              <a:t>CLUSTER</a:t>
            </a:r>
            <a:endParaRPr lang="en-US" sz="2000" dirty="0"/>
          </a:p>
        </p:txBody>
      </p:sp>
      <p:sp>
        <p:nvSpPr>
          <p:cNvPr id="10" name="Shape 8"/>
          <p:cNvSpPr/>
          <p:nvPr/>
        </p:nvSpPr>
        <p:spPr>
          <a:xfrm>
            <a:off x="2061972" y="2971800"/>
            <a:ext cx="585216" cy="585216"/>
          </a:xfrm>
          <a:prstGeom prst="ellipse">
            <a:avLst/>
          </a:prstGeom>
          <a:solidFill>
            <a:srgbClr val="840028"/>
          </a:solidFill>
          <a:ln w="12700">
            <a:solidFill>
              <a:srgbClr val="840028"/>
            </a:solidFill>
            <a:prstDash val="solid"/>
          </a:ln>
        </p:spPr>
      </p:sp>
      <p:sp>
        <p:nvSpPr>
          <p:cNvPr id="11" name="Shape 9"/>
          <p:cNvSpPr/>
          <p:nvPr/>
        </p:nvSpPr>
        <p:spPr>
          <a:xfrm>
            <a:off x="5628132" y="2788920"/>
            <a:ext cx="100584" cy="100584"/>
          </a:xfrm>
          <a:prstGeom prst="ellipse">
            <a:avLst/>
          </a:prstGeom>
          <a:solidFill>
            <a:srgbClr val="840028"/>
          </a:solidFill>
          <a:ln w="12700">
            <a:solidFill>
              <a:srgbClr val="840028"/>
            </a:solidFill>
            <a:prstDash val="solid"/>
          </a:ln>
        </p:spPr>
      </p:sp>
      <p:sp>
        <p:nvSpPr>
          <p:cNvPr id="12" name="Shape 10"/>
          <p:cNvSpPr/>
          <p:nvPr/>
        </p:nvSpPr>
        <p:spPr>
          <a:xfrm>
            <a:off x="5801868" y="2788920"/>
            <a:ext cx="100584" cy="100584"/>
          </a:xfrm>
          <a:prstGeom prst="ellipse">
            <a:avLst/>
          </a:prstGeom>
          <a:solidFill>
            <a:srgbClr val="840028"/>
          </a:solidFill>
          <a:ln w="12700">
            <a:solidFill>
              <a:srgbClr val="840028"/>
            </a:solidFill>
            <a:prstDash val="solid"/>
          </a:ln>
        </p:spPr>
      </p:sp>
      <p:sp>
        <p:nvSpPr>
          <p:cNvPr id="13" name="Shape 11"/>
          <p:cNvSpPr/>
          <p:nvPr/>
        </p:nvSpPr>
        <p:spPr>
          <a:xfrm>
            <a:off x="5975604" y="2788920"/>
            <a:ext cx="100584" cy="100584"/>
          </a:xfrm>
          <a:prstGeom prst="ellipse">
            <a:avLst/>
          </a:prstGeom>
          <a:solidFill>
            <a:srgbClr val="840028"/>
          </a:solidFill>
          <a:ln w="12700">
            <a:solidFill>
              <a:srgbClr val="840028"/>
            </a:solidFill>
            <a:prstDash val="solid"/>
          </a:ln>
        </p:spPr>
      </p:sp>
      <p:sp>
        <p:nvSpPr>
          <p:cNvPr id="14" name="Shape 12"/>
          <p:cNvSpPr/>
          <p:nvPr/>
        </p:nvSpPr>
        <p:spPr>
          <a:xfrm>
            <a:off x="6149340" y="2788920"/>
            <a:ext cx="100584" cy="100584"/>
          </a:xfrm>
          <a:prstGeom prst="ellipse">
            <a:avLst/>
          </a:prstGeom>
          <a:solidFill>
            <a:srgbClr val="840028"/>
          </a:solidFill>
          <a:ln w="12700">
            <a:solidFill>
              <a:srgbClr val="840028"/>
            </a:solidFill>
            <a:prstDash val="solid"/>
          </a:ln>
        </p:spPr>
      </p:sp>
      <p:sp>
        <p:nvSpPr>
          <p:cNvPr id="15" name="Shape 13"/>
          <p:cNvSpPr/>
          <p:nvPr/>
        </p:nvSpPr>
        <p:spPr>
          <a:xfrm>
            <a:off x="6323076" y="2788920"/>
            <a:ext cx="100584" cy="100584"/>
          </a:xfrm>
          <a:prstGeom prst="ellipse">
            <a:avLst/>
          </a:prstGeom>
          <a:solidFill>
            <a:srgbClr val="840028"/>
          </a:solidFill>
          <a:ln w="12700">
            <a:solidFill>
              <a:srgbClr val="840028"/>
            </a:solidFill>
            <a:prstDash val="solid"/>
          </a:ln>
        </p:spPr>
      </p:sp>
      <p:sp>
        <p:nvSpPr>
          <p:cNvPr id="16" name="Shape 14"/>
          <p:cNvSpPr/>
          <p:nvPr/>
        </p:nvSpPr>
        <p:spPr>
          <a:xfrm>
            <a:off x="6496812" y="2788920"/>
            <a:ext cx="100584" cy="100584"/>
          </a:xfrm>
          <a:prstGeom prst="ellipse">
            <a:avLst/>
          </a:prstGeom>
          <a:solidFill>
            <a:srgbClr val="840028"/>
          </a:solidFill>
          <a:ln w="12700">
            <a:solidFill>
              <a:srgbClr val="840028"/>
            </a:solidFill>
            <a:prstDash val="solid"/>
          </a:ln>
        </p:spPr>
      </p:sp>
      <p:sp>
        <p:nvSpPr>
          <p:cNvPr id="17" name="Shape 15"/>
          <p:cNvSpPr/>
          <p:nvPr/>
        </p:nvSpPr>
        <p:spPr>
          <a:xfrm>
            <a:off x="6670548" y="2788920"/>
            <a:ext cx="100584" cy="100584"/>
          </a:xfrm>
          <a:prstGeom prst="ellipse">
            <a:avLst/>
          </a:prstGeom>
          <a:solidFill>
            <a:srgbClr val="840028"/>
          </a:solidFill>
          <a:ln w="12700">
            <a:solidFill>
              <a:srgbClr val="840028"/>
            </a:solidFill>
            <a:prstDash val="solid"/>
          </a:ln>
        </p:spPr>
      </p:sp>
      <p:sp>
        <p:nvSpPr>
          <p:cNvPr id="18" name="Shape 16"/>
          <p:cNvSpPr/>
          <p:nvPr/>
        </p:nvSpPr>
        <p:spPr>
          <a:xfrm>
            <a:off x="6844284" y="2788920"/>
            <a:ext cx="100584" cy="100584"/>
          </a:xfrm>
          <a:prstGeom prst="ellipse">
            <a:avLst/>
          </a:prstGeom>
          <a:solidFill>
            <a:srgbClr val="840028"/>
          </a:solidFill>
          <a:ln w="12700">
            <a:solidFill>
              <a:srgbClr val="840028"/>
            </a:solidFill>
            <a:prstDash val="solid"/>
          </a:ln>
        </p:spPr>
      </p:sp>
      <p:sp>
        <p:nvSpPr>
          <p:cNvPr id="19" name="Shape 17"/>
          <p:cNvSpPr/>
          <p:nvPr/>
        </p:nvSpPr>
        <p:spPr>
          <a:xfrm>
            <a:off x="5628132" y="2962656"/>
            <a:ext cx="100584" cy="100584"/>
          </a:xfrm>
          <a:prstGeom prst="ellipse">
            <a:avLst/>
          </a:prstGeom>
          <a:solidFill>
            <a:srgbClr val="840028"/>
          </a:solidFill>
          <a:ln w="12700">
            <a:solidFill>
              <a:srgbClr val="840028"/>
            </a:solidFill>
            <a:prstDash val="solid"/>
          </a:ln>
        </p:spPr>
      </p:sp>
      <p:sp>
        <p:nvSpPr>
          <p:cNvPr id="20" name="Shape 18"/>
          <p:cNvSpPr/>
          <p:nvPr/>
        </p:nvSpPr>
        <p:spPr>
          <a:xfrm>
            <a:off x="5801868" y="2962656"/>
            <a:ext cx="100584" cy="100584"/>
          </a:xfrm>
          <a:prstGeom prst="ellipse">
            <a:avLst/>
          </a:prstGeom>
          <a:solidFill>
            <a:srgbClr val="840028"/>
          </a:solidFill>
          <a:ln w="12700">
            <a:solidFill>
              <a:srgbClr val="840028"/>
            </a:solidFill>
            <a:prstDash val="solid"/>
          </a:ln>
        </p:spPr>
      </p:sp>
      <p:sp>
        <p:nvSpPr>
          <p:cNvPr id="21" name="Shape 19"/>
          <p:cNvSpPr/>
          <p:nvPr/>
        </p:nvSpPr>
        <p:spPr>
          <a:xfrm>
            <a:off x="5975604" y="2962656"/>
            <a:ext cx="100584" cy="100584"/>
          </a:xfrm>
          <a:prstGeom prst="ellipse">
            <a:avLst/>
          </a:prstGeom>
          <a:solidFill>
            <a:srgbClr val="840028"/>
          </a:solidFill>
          <a:ln w="12700">
            <a:solidFill>
              <a:srgbClr val="840028"/>
            </a:solidFill>
            <a:prstDash val="solid"/>
          </a:ln>
        </p:spPr>
      </p:sp>
      <p:sp>
        <p:nvSpPr>
          <p:cNvPr id="22" name="Shape 20"/>
          <p:cNvSpPr/>
          <p:nvPr/>
        </p:nvSpPr>
        <p:spPr>
          <a:xfrm>
            <a:off x="6149340" y="2962656"/>
            <a:ext cx="100584" cy="100584"/>
          </a:xfrm>
          <a:prstGeom prst="ellipse">
            <a:avLst/>
          </a:prstGeom>
          <a:solidFill>
            <a:srgbClr val="840028"/>
          </a:solidFill>
          <a:ln w="12700">
            <a:solidFill>
              <a:srgbClr val="840028"/>
            </a:solidFill>
            <a:prstDash val="solid"/>
          </a:ln>
        </p:spPr>
      </p:sp>
      <p:sp>
        <p:nvSpPr>
          <p:cNvPr id="23" name="Shape 21"/>
          <p:cNvSpPr/>
          <p:nvPr/>
        </p:nvSpPr>
        <p:spPr>
          <a:xfrm>
            <a:off x="6323076" y="2962656"/>
            <a:ext cx="100584" cy="100584"/>
          </a:xfrm>
          <a:prstGeom prst="ellipse">
            <a:avLst/>
          </a:prstGeom>
          <a:solidFill>
            <a:srgbClr val="840028"/>
          </a:solidFill>
          <a:ln w="12700">
            <a:solidFill>
              <a:srgbClr val="840028"/>
            </a:solidFill>
            <a:prstDash val="solid"/>
          </a:ln>
        </p:spPr>
      </p:sp>
      <p:sp>
        <p:nvSpPr>
          <p:cNvPr id="24" name="Shape 22"/>
          <p:cNvSpPr/>
          <p:nvPr/>
        </p:nvSpPr>
        <p:spPr>
          <a:xfrm>
            <a:off x="6496812" y="2962656"/>
            <a:ext cx="100584" cy="100584"/>
          </a:xfrm>
          <a:prstGeom prst="ellipse">
            <a:avLst/>
          </a:prstGeom>
          <a:solidFill>
            <a:srgbClr val="840028"/>
          </a:solidFill>
          <a:ln w="12700">
            <a:solidFill>
              <a:srgbClr val="840028"/>
            </a:solidFill>
            <a:prstDash val="solid"/>
          </a:ln>
        </p:spPr>
      </p:sp>
      <p:sp>
        <p:nvSpPr>
          <p:cNvPr id="25" name="Shape 23"/>
          <p:cNvSpPr/>
          <p:nvPr/>
        </p:nvSpPr>
        <p:spPr>
          <a:xfrm>
            <a:off x="6670548" y="2962656"/>
            <a:ext cx="100584" cy="100584"/>
          </a:xfrm>
          <a:prstGeom prst="ellipse">
            <a:avLst/>
          </a:prstGeom>
          <a:solidFill>
            <a:srgbClr val="840028"/>
          </a:solidFill>
          <a:ln w="12700">
            <a:solidFill>
              <a:srgbClr val="840028"/>
            </a:solidFill>
            <a:prstDash val="solid"/>
          </a:ln>
        </p:spPr>
      </p:sp>
      <p:sp>
        <p:nvSpPr>
          <p:cNvPr id="26" name="Shape 24"/>
          <p:cNvSpPr/>
          <p:nvPr/>
        </p:nvSpPr>
        <p:spPr>
          <a:xfrm>
            <a:off x="6844284" y="2962656"/>
            <a:ext cx="100584" cy="100584"/>
          </a:xfrm>
          <a:prstGeom prst="ellipse">
            <a:avLst/>
          </a:prstGeom>
          <a:solidFill>
            <a:srgbClr val="840028"/>
          </a:solidFill>
          <a:ln w="12700">
            <a:solidFill>
              <a:srgbClr val="840028"/>
            </a:solidFill>
            <a:prstDash val="solid"/>
          </a:ln>
        </p:spPr>
      </p:sp>
      <p:sp>
        <p:nvSpPr>
          <p:cNvPr id="27" name="Shape 25"/>
          <p:cNvSpPr/>
          <p:nvPr/>
        </p:nvSpPr>
        <p:spPr>
          <a:xfrm>
            <a:off x="5628132" y="3136392"/>
            <a:ext cx="100584" cy="100584"/>
          </a:xfrm>
          <a:prstGeom prst="ellipse">
            <a:avLst/>
          </a:prstGeom>
          <a:solidFill>
            <a:srgbClr val="840028"/>
          </a:solidFill>
          <a:ln w="12700">
            <a:solidFill>
              <a:srgbClr val="840028"/>
            </a:solidFill>
            <a:prstDash val="solid"/>
          </a:ln>
        </p:spPr>
      </p:sp>
      <p:sp>
        <p:nvSpPr>
          <p:cNvPr id="28" name="Shape 26"/>
          <p:cNvSpPr/>
          <p:nvPr/>
        </p:nvSpPr>
        <p:spPr>
          <a:xfrm>
            <a:off x="5801868" y="3136392"/>
            <a:ext cx="100584" cy="100584"/>
          </a:xfrm>
          <a:prstGeom prst="ellipse">
            <a:avLst/>
          </a:prstGeom>
          <a:solidFill>
            <a:srgbClr val="840028"/>
          </a:solidFill>
          <a:ln w="12700">
            <a:solidFill>
              <a:srgbClr val="840028"/>
            </a:solidFill>
            <a:prstDash val="solid"/>
          </a:ln>
        </p:spPr>
      </p:sp>
      <p:sp>
        <p:nvSpPr>
          <p:cNvPr id="29" name="Shape 27"/>
          <p:cNvSpPr/>
          <p:nvPr/>
        </p:nvSpPr>
        <p:spPr>
          <a:xfrm>
            <a:off x="5975604" y="3136392"/>
            <a:ext cx="100584" cy="100584"/>
          </a:xfrm>
          <a:prstGeom prst="ellipse">
            <a:avLst/>
          </a:prstGeom>
          <a:solidFill>
            <a:srgbClr val="840028"/>
          </a:solidFill>
          <a:ln w="12700">
            <a:solidFill>
              <a:srgbClr val="840028"/>
            </a:solidFill>
            <a:prstDash val="solid"/>
          </a:ln>
        </p:spPr>
      </p:sp>
      <p:sp>
        <p:nvSpPr>
          <p:cNvPr id="30" name="Shape 28"/>
          <p:cNvSpPr/>
          <p:nvPr/>
        </p:nvSpPr>
        <p:spPr>
          <a:xfrm>
            <a:off x="6149340" y="3136392"/>
            <a:ext cx="100584" cy="100584"/>
          </a:xfrm>
          <a:prstGeom prst="ellipse">
            <a:avLst/>
          </a:prstGeom>
          <a:solidFill>
            <a:srgbClr val="840028"/>
          </a:solidFill>
          <a:ln w="12700">
            <a:solidFill>
              <a:srgbClr val="840028"/>
            </a:solidFill>
            <a:prstDash val="solid"/>
          </a:ln>
        </p:spPr>
      </p:sp>
      <p:sp>
        <p:nvSpPr>
          <p:cNvPr id="31" name="Shape 29"/>
          <p:cNvSpPr/>
          <p:nvPr/>
        </p:nvSpPr>
        <p:spPr>
          <a:xfrm>
            <a:off x="6323076" y="3136392"/>
            <a:ext cx="100584" cy="100584"/>
          </a:xfrm>
          <a:prstGeom prst="ellipse">
            <a:avLst/>
          </a:prstGeom>
          <a:solidFill>
            <a:srgbClr val="840028"/>
          </a:solidFill>
          <a:ln w="12700">
            <a:solidFill>
              <a:srgbClr val="840028"/>
            </a:solidFill>
            <a:prstDash val="solid"/>
          </a:ln>
        </p:spPr>
      </p:sp>
      <p:sp>
        <p:nvSpPr>
          <p:cNvPr id="32" name="Shape 30"/>
          <p:cNvSpPr/>
          <p:nvPr/>
        </p:nvSpPr>
        <p:spPr>
          <a:xfrm>
            <a:off x="6496812" y="3136392"/>
            <a:ext cx="100584" cy="100584"/>
          </a:xfrm>
          <a:prstGeom prst="ellipse">
            <a:avLst/>
          </a:prstGeom>
          <a:solidFill>
            <a:srgbClr val="840028"/>
          </a:solidFill>
          <a:ln w="12700">
            <a:solidFill>
              <a:srgbClr val="840028"/>
            </a:solidFill>
            <a:prstDash val="solid"/>
          </a:ln>
        </p:spPr>
      </p:sp>
      <p:sp>
        <p:nvSpPr>
          <p:cNvPr id="33" name="Shape 31"/>
          <p:cNvSpPr/>
          <p:nvPr/>
        </p:nvSpPr>
        <p:spPr>
          <a:xfrm>
            <a:off x="6670548" y="3136392"/>
            <a:ext cx="100584" cy="100584"/>
          </a:xfrm>
          <a:prstGeom prst="ellipse">
            <a:avLst/>
          </a:prstGeom>
          <a:solidFill>
            <a:srgbClr val="840028"/>
          </a:solidFill>
          <a:ln w="12700">
            <a:solidFill>
              <a:srgbClr val="840028"/>
            </a:solidFill>
            <a:prstDash val="solid"/>
          </a:ln>
        </p:spPr>
      </p:sp>
      <p:sp>
        <p:nvSpPr>
          <p:cNvPr id="34" name="Shape 32"/>
          <p:cNvSpPr/>
          <p:nvPr/>
        </p:nvSpPr>
        <p:spPr>
          <a:xfrm>
            <a:off x="6844284" y="3136392"/>
            <a:ext cx="100584" cy="100584"/>
          </a:xfrm>
          <a:prstGeom prst="ellipse">
            <a:avLst/>
          </a:prstGeom>
          <a:solidFill>
            <a:srgbClr val="840028"/>
          </a:solidFill>
          <a:ln w="12700">
            <a:solidFill>
              <a:srgbClr val="840028"/>
            </a:solidFill>
            <a:prstDash val="solid"/>
          </a:ln>
        </p:spPr>
      </p:sp>
      <p:sp>
        <p:nvSpPr>
          <p:cNvPr id="35" name="Shape 33"/>
          <p:cNvSpPr/>
          <p:nvPr/>
        </p:nvSpPr>
        <p:spPr>
          <a:xfrm>
            <a:off x="5628132" y="3310128"/>
            <a:ext cx="100584" cy="100584"/>
          </a:xfrm>
          <a:prstGeom prst="ellipse">
            <a:avLst/>
          </a:prstGeom>
          <a:solidFill>
            <a:srgbClr val="840028"/>
          </a:solidFill>
          <a:ln w="12700">
            <a:solidFill>
              <a:srgbClr val="840028"/>
            </a:solidFill>
            <a:prstDash val="solid"/>
          </a:ln>
        </p:spPr>
      </p:sp>
      <p:sp>
        <p:nvSpPr>
          <p:cNvPr id="36" name="Shape 34"/>
          <p:cNvSpPr/>
          <p:nvPr/>
        </p:nvSpPr>
        <p:spPr>
          <a:xfrm>
            <a:off x="5801868" y="3310128"/>
            <a:ext cx="100584" cy="100584"/>
          </a:xfrm>
          <a:prstGeom prst="ellipse">
            <a:avLst/>
          </a:prstGeom>
          <a:solidFill>
            <a:srgbClr val="840028"/>
          </a:solidFill>
          <a:ln w="12700">
            <a:solidFill>
              <a:srgbClr val="840028"/>
            </a:solidFill>
            <a:prstDash val="solid"/>
          </a:ln>
        </p:spPr>
      </p:sp>
      <p:sp>
        <p:nvSpPr>
          <p:cNvPr id="37" name="Shape 35"/>
          <p:cNvSpPr/>
          <p:nvPr/>
        </p:nvSpPr>
        <p:spPr>
          <a:xfrm>
            <a:off x="5975604" y="3310128"/>
            <a:ext cx="100584" cy="100584"/>
          </a:xfrm>
          <a:prstGeom prst="ellipse">
            <a:avLst/>
          </a:prstGeom>
          <a:solidFill>
            <a:srgbClr val="840028"/>
          </a:solidFill>
          <a:ln w="12700">
            <a:solidFill>
              <a:srgbClr val="840028"/>
            </a:solidFill>
            <a:prstDash val="solid"/>
          </a:ln>
        </p:spPr>
      </p:sp>
      <p:sp>
        <p:nvSpPr>
          <p:cNvPr id="38" name="Shape 36"/>
          <p:cNvSpPr/>
          <p:nvPr/>
        </p:nvSpPr>
        <p:spPr>
          <a:xfrm>
            <a:off x="6149340" y="3310128"/>
            <a:ext cx="100584" cy="100584"/>
          </a:xfrm>
          <a:prstGeom prst="ellipse">
            <a:avLst/>
          </a:prstGeom>
          <a:solidFill>
            <a:srgbClr val="840028"/>
          </a:solidFill>
          <a:ln w="12700">
            <a:solidFill>
              <a:srgbClr val="840028"/>
            </a:solidFill>
            <a:prstDash val="solid"/>
          </a:ln>
        </p:spPr>
      </p:sp>
      <p:sp>
        <p:nvSpPr>
          <p:cNvPr id="39" name="Shape 37"/>
          <p:cNvSpPr/>
          <p:nvPr/>
        </p:nvSpPr>
        <p:spPr>
          <a:xfrm>
            <a:off x="6323076" y="3310128"/>
            <a:ext cx="100584" cy="100584"/>
          </a:xfrm>
          <a:prstGeom prst="ellipse">
            <a:avLst/>
          </a:prstGeom>
          <a:solidFill>
            <a:srgbClr val="840028"/>
          </a:solidFill>
          <a:ln w="12700">
            <a:solidFill>
              <a:srgbClr val="840028"/>
            </a:solidFill>
            <a:prstDash val="solid"/>
          </a:ln>
        </p:spPr>
      </p:sp>
      <p:sp>
        <p:nvSpPr>
          <p:cNvPr id="40" name="Shape 38"/>
          <p:cNvSpPr/>
          <p:nvPr/>
        </p:nvSpPr>
        <p:spPr>
          <a:xfrm>
            <a:off x="6496812" y="3310128"/>
            <a:ext cx="100584" cy="100584"/>
          </a:xfrm>
          <a:prstGeom prst="ellipse">
            <a:avLst/>
          </a:prstGeom>
          <a:solidFill>
            <a:srgbClr val="840028"/>
          </a:solidFill>
          <a:ln w="12700">
            <a:solidFill>
              <a:srgbClr val="840028"/>
            </a:solidFill>
            <a:prstDash val="solid"/>
          </a:ln>
        </p:spPr>
      </p:sp>
      <p:sp>
        <p:nvSpPr>
          <p:cNvPr id="41" name="Shape 39"/>
          <p:cNvSpPr/>
          <p:nvPr/>
        </p:nvSpPr>
        <p:spPr>
          <a:xfrm>
            <a:off x="6670548" y="3310128"/>
            <a:ext cx="100584" cy="100584"/>
          </a:xfrm>
          <a:prstGeom prst="ellipse">
            <a:avLst/>
          </a:prstGeom>
          <a:solidFill>
            <a:srgbClr val="840028"/>
          </a:solidFill>
          <a:ln w="12700">
            <a:solidFill>
              <a:srgbClr val="840028"/>
            </a:solidFill>
            <a:prstDash val="solid"/>
          </a:ln>
        </p:spPr>
      </p:sp>
      <p:sp>
        <p:nvSpPr>
          <p:cNvPr id="42" name="Shape 40"/>
          <p:cNvSpPr/>
          <p:nvPr/>
        </p:nvSpPr>
        <p:spPr>
          <a:xfrm>
            <a:off x="6844284" y="3310128"/>
            <a:ext cx="100584" cy="100584"/>
          </a:xfrm>
          <a:prstGeom prst="ellipse">
            <a:avLst/>
          </a:prstGeom>
          <a:solidFill>
            <a:srgbClr val="840028"/>
          </a:solidFill>
          <a:ln w="12700">
            <a:solidFill>
              <a:srgbClr val="840028"/>
            </a:solidFill>
            <a:prstDash val="solid"/>
          </a:ln>
        </p:spPr>
      </p:sp>
      <p:sp>
        <p:nvSpPr>
          <p:cNvPr id="43" name="Shape 41"/>
          <p:cNvSpPr/>
          <p:nvPr/>
        </p:nvSpPr>
        <p:spPr>
          <a:xfrm>
            <a:off x="5628132" y="3483864"/>
            <a:ext cx="100584" cy="100584"/>
          </a:xfrm>
          <a:prstGeom prst="ellipse">
            <a:avLst/>
          </a:prstGeom>
          <a:solidFill>
            <a:srgbClr val="840028"/>
          </a:solidFill>
          <a:ln w="12700">
            <a:solidFill>
              <a:srgbClr val="840028"/>
            </a:solidFill>
            <a:prstDash val="solid"/>
          </a:ln>
        </p:spPr>
      </p:sp>
      <p:sp>
        <p:nvSpPr>
          <p:cNvPr id="44" name="Shape 42"/>
          <p:cNvSpPr/>
          <p:nvPr/>
        </p:nvSpPr>
        <p:spPr>
          <a:xfrm>
            <a:off x="5801868" y="3483864"/>
            <a:ext cx="100584" cy="100584"/>
          </a:xfrm>
          <a:prstGeom prst="ellipse">
            <a:avLst/>
          </a:prstGeom>
          <a:solidFill>
            <a:srgbClr val="840028"/>
          </a:solidFill>
          <a:ln w="12700">
            <a:solidFill>
              <a:srgbClr val="840028"/>
            </a:solidFill>
            <a:prstDash val="solid"/>
          </a:ln>
        </p:spPr>
      </p:sp>
      <p:sp>
        <p:nvSpPr>
          <p:cNvPr id="45" name="Shape 43"/>
          <p:cNvSpPr/>
          <p:nvPr/>
        </p:nvSpPr>
        <p:spPr>
          <a:xfrm>
            <a:off x="5975604" y="3483864"/>
            <a:ext cx="100584" cy="100584"/>
          </a:xfrm>
          <a:prstGeom prst="ellipse">
            <a:avLst/>
          </a:prstGeom>
          <a:solidFill>
            <a:srgbClr val="840028"/>
          </a:solidFill>
          <a:ln w="12700">
            <a:solidFill>
              <a:srgbClr val="840028"/>
            </a:solidFill>
            <a:prstDash val="solid"/>
          </a:ln>
        </p:spPr>
      </p:sp>
      <p:sp>
        <p:nvSpPr>
          <p:cNvPr id="46" name="Shape 44"/>
          <p:cNvSpPr/>
          <p:nvPr/>
        </p:nvSpPr>
        <p:spPr>
          <a:xfrm>
            <a:off x="6149340" y="3483864"/>
            <a:ext cx="100584" cy="100584"/>
          </a:xfrm>
          <a:prstGeom prst="ellipse">
            <a:avLst/>
          </a:prstGeom>
          <a:solidFill>
            <a:srgbClr val="840028"/>
          </a:solidFill>
          <a:ln w="12700">
            <a:solidFill>
              <a:srgbClr val="840028"/>
            </a:solidFill>
            <a:prstDash val="solid"/>
          </a:ln>
        </p:spPr>
      </p:sp>
      <p:sp>
        <p:nvSpPr>
          <p:cNvPr id="47" name="Shape 45"/>
          <p:cNvSpPr/>
          <p:nvPr/>
        </p:nvSpPr>
        <p:spPr>
          <a:xfrm>
            <a:off x="6323076" y="3483864"/>
            <a:ext cx="100584" cy="100584"/>
          </a:xfrm>
          <a:prstGeom prst="ellipse">
            <a:avLst/>
          </a:prstGeom>
          <a:solidFill>
            <a:srgbClr val="840028"/>
          </a:solidFill>
          <a:ln w="12700">
            <a:solidFill>
              <a:srgbClr val="840028"/>
            </a:solidFill>
            <a:prstDash val="solid"/>
          </a:ln>
        </p:spPr>
      </p:sp>
      <p:sp>
        <p:nvSpPr>
          <p:cNvPr id="48" name="Shape 46"/>
          <p:cNvSpPr/>
          <p:nvPr/>
        </p:nvSpPr>
        <p:spPr>
          <a:xfrm>
            <a:off x="6496812" y="3483864"/>
            <a:ext cx="100584" cy="100584"/>
          </a:xfrm>
          <a:prstGeom prst="ellipse">
            <a:avLst/>
          </a:prstGeom>
          <a:solidFill>
            <a:srgbClr val="840028"/>
          </a:solidFill>
          <a:ln w="12700">
            <a:solidFill>
              <a:srgbClr val="840028"/>
            </a:solidFill>
            <a:prstDash val="solid"/>
          </a:ln>
        </p:spPr>
      </p:sp>
      <p:sp>
        <p:nvSpPr>
          <p:cNvPr id="49" name="Shape 47"/>
          <p:cNvSpPr/>
          <p:nvPr/>
        </p:nvSpPr>
        <p:spPr>
          <a:xfrm>
            <a:off x="6670548" y="3483864"/>
            <a:ext cx="100584" cy="100584"/>
          </a:xfrm>
          <a:prstGeom prst="ellipse">
            <a:avLst/>
          </a:prstGeom>
          <a:solidFill>
            <a:srgbClr val="840028"/>
          </a:solidFill>
          <a:ln w="12700">
            <a:solidFill>
              <a:srgbClr val="840028"/>
            </a:solidFill>
            <a:prstDash val="solid"/>
          </a:ln>
        </p:spPr>
      </p:sp>
      <p:sp>
        <p:nvSpPr>
          <p:cNvPr id="50" name="Shape 48"/>
          <p:cNvSpPr/>
          <p:nvPr/>
        </p:nvSpPr>
        <p:spPr>
          <a:xfrm>
            <a:off x="6844284" y="3483864"/>
            <a:ext cx="100584" cy="100584"/>
          </a:xfrm>
          <a:prstGeom prst="ellipse">
            <a:avLst/>
          </a:prstGeom>
          <a:solidFill>
            <a:srgbClr val="840028"/>
          </a:solidFill>
          <a:ln w="12700">
            <a:solidFill>
              <a:srgbClr val="840028"/>
            </a:solidFill>
            <a:prstDash val="solid"/>
          </a:ln>
        </p:spPr>
      </p:sp>
      <p:sp>
        <p:nvSpPr>
          <p:cNvPr id="51" name="Shape 49"/>
          <p:cNvSpPr/>
          <p:nvPr/>
        </p:nvSpPr>
        <p:spPr>
          <a:xfrm>
            <a:off x="5628132" y="3657600"/>
            <a:ext cx="100584" cy="100584"/>
          </a:xfrm>
          <a:prstGeom prst="ellipse">
            <a:avLst/>
          </a:prstGeom>
          <a:solidFill>
            <a:srgbClr val="840028"/>
          </a:solidFill>
          <a:ln w="12700">
            <a:solidFill>
              <a:srgbClr val="840028"/>
            </a:solidFill>
            <a:prstDash val="solid"/>
          </a:ln>
        </p:spPr>
      </p:sp>
      <p:sp>
        <p:nvSpPr>
          <p:cNvPr id="52" name="Shape 50"/>
          <p:cNvSpPr/>
          <p:nvPr/>
        </p:nvSpPr>
        <p:spPr>
          <a:xfrm>
            <a:off x="5801868" y="3657600"/>
            <a:ext cx="100584" cy="100584"/>
          </a:xfrm>
          <a:prstGeom prst="ellipse">
            <a:avLst/>
          </a:prstGeom>
          <a:solidFill>
            <a:srgbClr val="840028"/>
          </a:solidFill>
          <a:ln w="12700">
            <a:solidFill>
              <a:srgbClr val="840028"/>
            </a:solidFill>
            <a:prstDash val="solid"/>
          </a:ln>
        </p:spPr>
      </p:sp>
      <p:sp>
        <p:nvSpPr>
          <p:cNvPr id="53" name="Shape 51"/>
          <p:cNvSpPr/>
          <p:nvPr/>
        </p:nvSpPr>
        <p:spPr>
          <a:xfrm>
            <a:off x="5975604" y="3657600"/>
            <a:ext cx="100584" cy="100584"/>
          </a:xfrm>
          <a:prstGeom prst="ellipse">
            <a:avLst/>
          </a:prstGeom>
          <a:solidFill>
            <a:srgbClr val="840028"/>
          </a:solidFill>
          <a:ln w="12700">
            <a:solidFill>
              <a:srgbClr val="840028"/>
            </a:solidFill>
            <a:prstDash val="solid"/>
          </a:ln>
        </p:spPr>
      </p:sp>
      <p:sp>
        <p:nvSpPr>
          <p:cNvPr id="54" name="Shape 52"/>
          <p:cNvSpPr/>
          <p:nvPr/>
        </p:nvSpPr>
        <p:spPr>
          <a:xfrm>
            <a:off x="6149340" y="3657600"/>
            <a:ext cx="100584" cy="100584"/>
          </a:xfrm>
          <a:prstGeom prst="ellipse">
            <a:avLst/>
          </a:prstGeom>
          <a:solidFill>
            <a:srgbClr val="840028"/>
          </a:solidFill>
          <a:ln w="12700">
            <a:solidFill>
              <a:srgbClr val="840028"/>
            </a:solidFill>
            <a:prstDash val="solid"/>
          </a:ln>
        </p:spPr>
      </p:sp>
      <p:sp>
        <p:nvSpPr>
          <p:cNvPr id="55" name="Shape 53"/>
          <p:cNvSpPr/>
          <p:nvPr/>
        </p:nvSpPr>
        <p:spPr>
          <a:xfrm>
            <a:off x="6323076" y="3657600"/>
            <a:ext cx="100584" cy="100584"/>
          </a:xfrm>
          <a:prstGeom prst="ellipse">
            <a:avLst/>
          </a:prstGeom>
          <a:solidFill>
            <a:srgbClr val="840028"/>
          </a:solidFill>
          <a:ln w="12700">
            <a:solidFill>
              <a:srgbClr val="840028"/>
            </a:solidFill>
            <a:prstDash val="solid"/>
          </a:ln>
        </p:spPr>
      </p:sp>
      <p:sp>
        <p:nvSpPr>
          <p:cNvPr id="56" name="Shape 54"/>
          <p:cNvSpPr/>
          <p:nvPr/>
        </p:nvSpPr>
        <p:spPr>
          <a:xfrm>
            <a:off x="6496812" y="3657600"/>
            <a:ext cx="100584" cy="100584"/>
          </a:xfrm>
          <a:prstGeom prst="ellipse">
            <a:avLst/>
          </a:prstGeom>
          <a:solidFill>
            <a:srgbClr val="840028"/>
          </a:solidFill>
          <a:ln w="12700">
            <a:solidFill>
              <a:srgbClr val="840028"/>
            </a:solidFill>
            <a:prstDash val="solid"/>
          </a:ln>
        </p:spPr>
      </p:sp>
      <p:sp>
        <p:nvSpPr>
          <p:cNvPr id="57" name="Shape 55"/>
          <p:cNvSpPr/>
          <p:nvPr/>
        </p:nvSpPr>
        <p:spPr>
          <a:xfrm>
            <a:off x="6670548" y="3657600"/>
            <a:ext cx="100584" cy="100584"/>
          </a:xfrm>
          <a:prstGeom prst="ellipse">
            <a:avLst/>
          </a:prstGeom>
          <a:solidFill>
            <a:srgbClr val="840028"/>
          </a:solidFill>
          <a:ln w="12700">
            <a:solidFill>
              <a:srgbClr val="840028"/>
            </a:solidFill>
            <a:prstDash val="solid"/>
          </a:ln>
        </p:spPr>
      </p:sp>
      <p:sp>
        <p:nvSpPr>
          <p:cNvPr id="58" name="Shape 56"/>
          <p:cNvSpPr/>
          <p:nvPr/>
        </p:nvSpPr>
        <p:spPr>
          <a:xfrm>
            <a:off x="6844284" y="3657600"/>
            <a:ext cx="100584" cy="100584"/>
          </a:xfrm>
          <a:prstGeom prst="ellipse">
            <a:avLst/>
          </a:prstGeom>
          <a:solidFill>
            <a:srgbClr val="840028"/>
          </a:solidFill>
          <a:ln w="12700">
            <a:solidFill>
              <a:srgbClr val="840028"/>
            </a:solidFill>
            <a:prstDash val="solid"/>
          </a:ln>
        </p:spPr>
      </p:sp>
      <p:sp>
        <p:nvSpPr>
          <p:cNvPr id="59" name="Shape 57"/>
          <p:cNvSpPr/>
          <p:nvPr/>
        </p:nvSpPr>
        <p:spPr>
          <a:xfrm>
            <a:off x="5628132" y="3831336"/>
            <a:ext cx="100584" cy="100584"/>
          </a:xfrm>
          <a:prstGeom prst="ellipse">
            <a:avLst/>
          </a:prstGeom>
          <a:solidFill>
            <a:srgbClr val="840028"/>
          </a:solidFill>
          <a:ln w="12700">
            <a:solidFill>
              <a:srgbClr val="840028"/>
            </a:solidFill>
            <a:prstDash val="solid"/>
          </a:ln>
        </p:spPr>
      </p:sp>
      <p:sp>
        <p:nvSpPr>
          <p:cNvPr id="60" name="Shape 58"/>
          <p:cNvSpPr/>
          <p:nvPr/>
        </p:nvSpPr>
        <p:spPr>
          <a:xfrm>
            <a:off x="5801868" y="3831336"/>
            <a:ext cx="100584" cy="100584"/>
          </a:xfrm>
          <a:prstGeom prst="ellipse">
            <a:avLst/>
          </a:prstGeom>
          <a:solidFill>
            <a:srgbClr val="840028"/>
          </a:solidFill>
          <a:ln w="12700">
            <a:solidFill>
              <a:srgbClr val="840028"/>
            </a:solidFill>
            <a:prstDash val="solid"/>
          </a:ln>
        </p:spPr>
      </p:sp>
      <p:sp>
        <p:nvSpPr>
          <p:cNvPr id="61" name="Shape 59"/>
          <p:cNvSpPr/>
          <p:nvPr/>
        </p:nvSpPr>
        <p:spPr>
          <a:xfrm>
            <a:off x="5975604" y="3831336"/>
            <a:ext cx="100584" cy="100584"/>
          </a:xfrm>
          <a:prstGeom prst="ellipse">
            <a:avLst/>
          </a:prstGeom>
          <a:solidFill>
            <a:srgbClr val="840028"/>
          </a:solidFill>
          <a:ln w="12700">
            <a:solidFill>
              <a:srgbClr val="840028"/>
            </a:solidFill>
            <a:prstDash val="solid"/>
          </a:ln>
        </p:spPr>
      </p:sp>
      <p:sp>
        <p:nvSpPr>
          <p:cNvPr id="62" name="Shape 60"/>
          <p:cNvSpPr/>
          <p:nvPr/>
        </p:nvSpPr>
        <p:spPr>
          <a:xfrm>
            <a:off x="6149340" y="3831336"/>
            <a:ext cx="100584" cy="100584"/>
          </a:xfrm>
          <a:prstGeom prst="ellipse">
            <a:avLst/>
          </a:prstGeom>
          <a:solidFill>
            <a:srgbClr val="840028"/>
          </a:solidFill>
          <a:ln w="12700">
            <a:solidFill>
              <a:srgbClr val="840028"/>
            </a:solidFill>
            <a:prstDash val="solid"/>
          </a:ln>
        </p:spPr>
      </p:sp>
      <p:sp>
        <p:nvSpPr>
          <p:cNvPr id="63" name="Shape 61"/>
          <p:cNvSpPr/>
          <p:nvPr/>
        </p:nvSpPr>
        <p:spPr>
          <a:xfrm>
            <a:off x="6323076" y="3831336"/>
            <a:ext cx="100584" cy="100584"/>
          </a:xfrm>
          <a:prstGeom prst="ellipse">
            <a:avLst/>
          </a:prstGeom>
          <a:solidFill>
            <a:srgbClr val="840028"/>
          </a:solidFill>
          <a:ln w="12700">
            <a:solidFill>
              <a:srgbClr val="840028"/>
            </a:solidFill>
            <a:prstDash val="solid"/>
          </a:ln>
        </p:spPr>
      </p:sp>
      <p:sp>
        <p:nvSpPr>
          <p:cNvPr id="64" name="Shape 62"/>
          <p:cNvSpPr/>
          <p:nvPr/>
        </p:nvSpPr>
        <p:spPr>
          <a:xfrm>
            <a:off x="6496812" y="3831336"/>
            <a:ext cx="100584" cy="100584"/>
          </a:xfrm>
          <a:prstGeom prst="ellipse">
            <a:avLst/>
          </a:prstGeom>
          <a:solidFill>
            <a:srgbClr val="840028"/>
          </a:solidFill>
          <a:ln w="12700">
            <a:solidFill>
              <a:srgbClr val="840028"/>
            </a:solidFill>
            <a:prstDash val="solid"/>
          </a:ln>
        </p:spPr>
      </p:sp>
      <p:sp>
        <p:nvSpPr>
          <p:cNvPr id="65" name="Shape 63"/>
          <p:cNvSpPr/>
          <p:nvPr/>
        </p:nvSpPr>
        <p:spPr>
          <a:xfrm>
            <a:off x="6670548" y="3831336"/>
            <a:ext cx="100584" cy="100584"/>
          </a:xfrm>
          <a:prstGeom prst="ellipse">
            <a:avLst/>
          </a:prstGeom>
          <a:solidFill>
            <a:srgbClr val="840028"/>
          </a:solidFill>
          <a:ln w="12700">
            <a:solidFill>
              <a:srgbClr val="840028"/>
            </a:solidFill>
            <a:prstDash val="solid"/>
          </a:ln>
        </p:spPr>
      </p:sp>
      <p:sp>
        <p:nvSpPr>
          <p:cNvPr id="66" name="Shape 64"/>
          <p:cNvSpPr/>
          <p:nvPr/>
        </p:nvSpPr>
        <p:spPr>
          <a:xfrm>
            <a:off x="6844284" y="3831336"/>
            <a:ext cx="100584" cy="100584"/>
          </a:xfrm>
          <a:prstGeom prst="ellipse">
            <a:avLst/>
          </a:prstGeom>
          <a:solidFill>
            <a:srgbClr val="840028"/>
          </a:solidFill>
          <a:ln w="12700">
            <a:solidFill>
              <a:srgbClr val="840028"/>
            </a:solidFill>
            <a:prstDash val="solid"/>
          </a:ln>
        </p:spPr>
      </p:sp>
      <p:sp>
        <p:nvSpPr>
          <p:cNvPr id="67" name="Shape 65"/>
          <p:cNvSpPr/>
          <p:nvPr/>
        </p:nvSpPr>
        <p:spPr>
          <a:xfrm>
            <a:off x="9281160" y="2834640"/>
            <a:ext cx="1874520" cy="137160"/>
          </a:xfrm>
          <a:prstGeom prst="rect">
            <a:avLst/>
          </a:prstGeom>
          <a:solidFill>
            <a:srgbClr val="840028"/>
          </a:solidFill>
          <a:ln w="12700">
            <a:solidFill>
              <a:srgbClr val="FFFFFF"/>
            </a:solidFill>
            <a:prstDash val="solid"/>
          </a:ln>
        </p:spPr>
      </p:sp>
      <p:sp>
        <p:nvSpPr>
          <p:cNvPr id="68" name="Shape 66"/>
          <p:cNvSpPr/>
          <p:nvPr/>
        </p:nvSpPr>
        <p:spPr>
          <a:xfrm>
            <a:off x="9281160" y="3017520"/>
            <a:ext cx="1874520" cy="137160"/>
          </a:xfrm>
          <a:prstGeom prst="rect">
            <a:avLst/>
          </a:prstGeom>
          <a:solidFill>
            <a:srgbClr val="840028"/>
          </a:solidFill>
          <a:ln w="12700">
            <a:solidFill>
              <a:srgbClr val="FFFFFF"/>
            </a:solidFill>
            <a:prstDash val="solid"/>
          </a:ln>
        </p:spPr>
      </p:sp>
      <p:sp>
        <p:nvSpPr>
          <p:cNvPr id="69" name="Shape 67"/>
          <p:cNvSpPr/>
          <p:nvPr/>
        </p:nvSpPr>
        <p:spPr>
          <a:xfrm>
            <a:off x="9281160" y="3200400"/>
            <a:ext cx="1874520" cy="137160"/>
          </a:xfrm>
          <a:prstGeom prst="rect">
            <a:avLst/>
          </a:prstGeom>
          <a:solidFill>
            <a:srgbClr val="840028"/>
          </a:solidFill>
          <a:ln w="12700">
            <a:solidFill>
              <a:srgbClr val="FFFFFF"/>
            </a:solidFill>
            <a:prstDash val="solid"/>
          </a:ln>
        </p:spPr>
      </p:sp>
      <p:sp>
        <p:nvSpPr>
          <p:cNvPr id="70" name="Shape 68"/>
          <p:cNvSpPr/>
          <p:nvPr/>
        </p:nvSpPr>
        <p:spPr>
          <a:xfrm>
            <a:off x="9281160" y="3383280"/>
            <a:ext cx="1874520" cy="137160"/>
          </a:xfrm>
          <a:prstGeom prst="rect">
            <a:avLst/>
          </a:prstGeom>
          <a:solidFill>
            <a:srgbClr val="840028"/>
          </a:solidFill>
          <a:ln w="12700">
            <a:solidFill>
              <a:srgbClr val="FFFFFF"/>
            </a:solidFill>
            <a:prstDash val="solid"/>
          </a:ln>
        </p:spPr>
      </p:sp>
      <p:sp>
        <p:nvSpPr>
          <p:cNvPr id="71" name="Shape 69"/>
          <p:cNvSpPr/>
          <p:nvPr/>
        </p:nvSpPr>
        <p:spPr>
          <a:xfrm>
            <a:off x="9281160" y="3566160"/>
            <a:ext cx="1874520" cy="137160"/>
          </a:xfrm>
          <a:prstGeom prst="rect">
            <a:avLst/>
          </a:prstGeom>
          <a:solidFill>
            <a:srgbClr val="840028"/>
          </a:solidFill>
          <a:ln w="12700">
            <a:solidFill>
              <a:srgbClr val="FFFFFF"/>
            </a:solidFill>
            <a:prstDash val="solid"/>
          </a:ln>
        </p:spPr>
      </p:sp>
      <p:sp>
        <p:nvSpPr>
          <p:cNvPr id="72" name="Shape 70"/>
          <p:cNvSpPr/>
          <p:nvPr/>
        </p:nvSpPr>
        <p:spPr>
          <a:xfrm>
            <a:off x="9281160" y="3749040"/>
            <a:ext cx="1874520" cy="137160"/>
          </a:xfrm>
          <a:prstGeom prst="rect">
            <a:avLst/>
          </a:prstGeom>
          <a:solidFill>
            <a:srgbClr val="840028"/>
          </a:solidFill>
          <a:ln w="12700">
            <a:solidFill>
              <a:srgbClr val="FFFFFF"/>
            </a:solidFill>
            <a:prstDash val="solid"/>
          </a:ln>
        </p:spPr>
      </p:sp>
      <p:sp>
        <p:nvSpPr>
          <p:cNvPr id="73" name="Text 71"/>
          <p:cNvSpPr/>
          <p:nvPr/>
        </p:nvSpPr>
        <p:spPr>
          <a:xfrm>
            <a:off x="777240" y="4343400"/>
            <a:ext cx="3154680" cy="822960"/>
          </a:xfrm>
          <a:prstGeom prst="rect">
            <a:avLst/>
          </a:prstGeom>
          <a:noFill/>
          <a:ln/>
        </p:spPr>
        <p:txBody>
          <a:bodyPr wrap="square" lIns="0" tIns="0" rIns="0" bIns="0" rtlCol="0" anchor="t"/>
          <a:lstStyle/>
          <a:p>
            <a:pPr algn="ctr" indent="0" marL="0">
              <a:buNone/>
            </a:pPr>
            <a:r>
              <a:rPr lang="en-US" sz="1300" dirty="0">
                <a:solidFill>
                  <a:srgbClr val="1A1A1A"/>
                </a:solidFill>
                <a:latin typeface="Calibri" pitchFamily="34" charset="0"/>
                <a:ea typeface="Calibri" pitchFamily="34" charset="-122"/>
                <a:cs typeface="Calibri" pitchFamily="34" charset="-120"/>
              </a:rPr>
              <a:t>one worker</a:t>
            </a:r>
            <a:endParaRPr lang="en-US" sz="1300" dirty="0"/>
          </a:p>
          <a:p>
            <a:pPr algn="ctr" indent="0" marL="0">
              <a:buNone/>
            </a:pPr>
            <a:r>
              <a:rPr lang="en-US" sz="1300" dirty="0">
                <a:solidFill>
                  <a:srgbClr val="1A1A1A"/>
                </a:solidFill>
                <a:latin typeface="Calibri" pitchFamily="34" charset="0"/>
                <a:ea typeface="Calibri" pitchFamily="34" charset="-122"/>
                <a:cs typeface="Calibri" pitchFamily="34" charset="-120"/>
              </a:rPr>
              <a:t>does one calculation at a time</a:t>
            </a:r>
            <a:endParaRPr lang="en-US" sz="1300" dirty="0"/>
          </a:p>
        </p:txBody>
      </p:sp>
      <p:sp>
        <p:nvSpPr>
          <p:cNvPr id="74" name="Text 72"/>
          <p:cNvSpPr/>
          <p:nvPr/>
        </p:nvSpPr>
        <p:spPr>
          <a:xfrm>
            <a:off x="4709160" y="4343400"/>
            <a:ext cx="3154680" cy="822960"/>
          </a:xfrm>
          <a:prstGeom prst="rect">
            <a:avLst/>
          </a:prstGeom>
          <a:noFill/>
          <a:ln/>
        </p:spPr>
        <p:txBody>
          <a:bodyPr wrap="square" lIns="0" tIns="0" rIns="0" bIns="0" rtlCol="0" anchor="t"/>
          <a:lstStyle/>
          <a:p>
            <a:pPr algn="ctr" indent="0" marL="0">
              <a:buNone/>
            </a:pPr>
            <a:r>
              <a:rPr lang="en-US" sz="1300" dirty="0">
                <a:solidFill>
                  <a:srgbClr val="1A1A1A"/>
                </a:solidFill>
                <a:latin typeface="Calibri" pitchFamily="34" charset="0"/>
                <a:ea typeface="Calibri" pitchFamily="34" charset="-122"/>
                <a:cs typeface="Calibri" pitchFamily="34" charset="-120"/>
              </a:rPr>
              <a:t>one computer</a:t>
            </a:r>
            <a:endParaRPr lang="en-US" sz="1300" dirty="0"/>
          </a:p>
          <a:p>
            <a:pPr algn="ctr" indent="0" marL="0">
              <a:buNone/>
            </a:pPr>
            <a:r>
              <a:rPr lang="en-US" sz="1300" dirty="0">
                <a:solidFill>
                  <a:srgbClr val="1A1A1A"/>
                </a:solidFill>
                <a:latin typeface="Calibri" pitchFamily="34" charset="0"/>
                <a:ea typeface="Calibri" pitchFamily="34" charset="-122"/>
                <a:cs typeface="Calibri" pitchFamily="34" charset="-120"/>
              </a:rPr>
              <a:t>56 cores together</a:t>
            </a:r>
            <a:endParaRPr lang="en-US" sz="1300" dirty="0"/>
          </a:p>
        </p:txBody>
      </p:sp>
      <p:sp>
        <p:nvSpPr>
          <p:cNvPr id="75" name="Text 73"/>
          <p:cNvSpPr/>
          <p:nvPr/>
        </p:nvSpPr>
        <p:spPr>
          <a:xfrm>
            <a:off x="8641080" y="4343400"/>
            <a:ext cx="3154680" cy="822960"/>
          </a:xfrm>
          <a:prstGeom prst="rect">
            <a:avLst/>
          </a:prstGeom>
          <a:noFill/>
          <a:ln/>
        </p:spPr>
        <p:txBody>
          <a:bodyPr wrap="square" lIns="0" tIns="0" rIns="0" bIns="0" rtlCol="0" anchor="t"/>
          <a:lstStyle/>
          <a:p>
            <a:pPr algn="ctr" indent="0" marL="0">
              <a:buNone/>
            </a:pPr>
            <a:r>
              <a:rPr lang="en-US" sz="1300" dirty="0">
                <a:solidFill>
                  <a:srgbClr val="1A1A1A"/>
                </a:solidFill>
                <a:latin typeface="Calibri" pitchFamily="34" charset="0"/>
                <a:ea typeface="Calibri" pitchFamily="34" charset="-122"/>
                <a:cs typeface="Calibri" pitchFamily="34" charset="-120"/>
              </a:rPr>
              <a:t>the whole supercomputer</a:t>
            </a:r>
            <a:endParaRPr lang="en-US" sz="1300" dirty="0"/>
          </a:p>
          <a:p>
            <a:pPr algn="ctr" indent="0" marL="0">
              <a:buNone/>
            </a:pPr>
            <a:r>
              <a:rPr lang="en-US" sz="1300" dirty="0">
                <a:solidFill>
                  <a:srgbClr val="1A1A1A"/>
                </a:solidFill>
                <a:latin typeface="Calibri" pitchFamily="34" charset="0"/>
                <a:ea typeface="Calibri" pitchFamily="34" charset="-122"/>
                <a:cs typeface="Calibri" pitchFamily="34" charset="-120"/>
              </a:rPr>
              <a:t>8,368 nodes in racks</a:t>
            </a:r>
            <a:endParaRPr lang="en-US" sz="1300" dirty="0"/>
          </a:p>
        </p:txBody>
      </p:sp>
      <p:sp>
        <p:nvSpPr>
          <p:cNvPr id="76" name="Text 74"/>
          <p:cNvSpPr/>
          <p:nvPr/>
        </p:nvSpPr>
        <p:spPr>
          <a:xfrm>
            <a:off x="640080" y="5486400"/>
            <a:ext cx="10972800" cy="457200"/>
          </a:xfrm>
          <a:prstGeom prst="rect">
            <a:avLst/>
          </a:prstGeom>
          <a:noFill/>
          <a:ln/>
        </p:spPr>
        <p:txBody>
          <a:bodyPr wrap="square" lIns="0" tIns="0" rIns="0" bIns="0" rtlCol="0" anchor="ctr"/>
          <a:lstStyle/>
          <a:p>
            <a:pPr indent="0" marL="0">
              <a:buNone/>
            </a:pPr>
            <a:r>
              <a:rPr lang="en-US" sz="1700" i="1" dirty="0">
                <a:solidFill>
                  <a:srgbClr val="6E6E70"/>
                </a:solidFill>
                <a:latin typeface="Calibri" pitchFamily="34" charset="0"/>
                <a:ea typeface="Calibri" pitchFamily="34" charset="-122"/>
                <a:cs typeface="Calibri" pitchFamily="34" charset="-120"/>
              </a:rPr>
              <a:t>56 cores make a node.  8,368 nodes make Frontera.</a:t>
            </a:r>
            <a:endParaRPr lang="en-US" sz="1700" dirty="0"/>
          </a:p>
        </p:txBody>
      </p:sp>
      <p:sp>
        <p:nvSpPr>
          <p:cNvPr id="77" name="Text 75"/>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48640"/>
            <a:ext cx="5486400" cy="320040"/>
          </a:xfrm>
          <a:prstGeom prst="rect">
            <a:avLst/>
          </a:prstGeom>
          <a:noFill/>
          <a:ln/>
        </p:spPr>
        <p:txBody>
          <a:bodyPr wrap="square" lIns="0" tIns="0" rIns="0" bIns="0" rtlCol="0" anchor="ctr"/>
          <a:lstStyle/>
          <a:p>
            <a:pPr algn="l" indent="0" marL="0">
              <a:buNone/>
            </a:pPr>
            <a:r>
              <a:rPr lang="en-US" sz="1300" b="1" spc="300" kern="0" dirty="0">
                <a:solidFill>
                  <a:srgbClr val="C1A231"/>
                </a:solidFill>
                <a:latin typeface="Arial" pitchFamily="34" charset="0"/>
                <a:ea typeface="Arial" pitchFamily="34" charset="-122"/>
                <a:cs typeface="Arial" pitchFamily="34" charset="-120"/>
              </a:rPr>
              <a:t>THE RULE</a:t>
            </a:r>
            <a:endParaRPr lang="en-US" sz="1300" dirty="0"/>
          </a:p>
        </p:txBody>
      </p:sp>
      <p:sp>
        <p:nvSpPr>
          <p:cNvPr id="3" name="Text 1"/>
          <p:cNvSpPr/>
          <p:nvPr/>
        </p:nvSpPr>
        <p:spPr>
          <a:xfrm>
            <a:off x="640080" y="868680"/>
            <a:ext cx="10972800" cy="822960"/>
          </a:xfrm>
          <a:prstGeom prst="rect">
            <a:avLst/>
          </a:prstGeom>
          <a:noFill/>
          <a:ln/>
        </p:spPr>
        <p:txBody>
          <a:bodyPr wrap="square" lIns="0" tIns="0" rIns="0" bIns="0" rtlCol="0" anchor="ctr"/>
          <a:lstStyle/>
          <a:p>
            <a:pPr indent="0" marL="0">
              <a:buNone/>
            </a:pPr>
            <a:r>
              <a:rPr lang="en-US" sz="3200" b="1" dirty="0">
                <a:solidFill>
                  <a:srgbClr val="840028"/>
                </a:solidFill>
                <a:latin typeface="Arial" pitchFamily="34" charset="0"/>
                <a:ea typeface="Arial" pitchFamily="34" charset="-122"/>
                <a:cs typeface="Arial" pitchFamily="34" charset="-120"/>
              </a:rPr>
              <a:t>Two kinds of nodes</a:t>
            </a:r>
            <a:endParaRPr lang="en-US" sz="3200" dirty="0"/>
          </a:p>
        </p:txBody>
      </p:sp>
      <p:sp>
        <p:nvSpPr>
          <p:cNvPr id="4" name="Shape 2"/>
          <p:cNvSpPr/>
          <p:nvPr/>
        </p:nvSpPr>
        <p:spPr>
          <a:xfrm>
            <a:off x="640080" y="2103120"/>
            <a:ext cx="5349240" cy="2286000"/>
          </a:xfrm>
          <a:prstGeom prst="rect">
            <a:avLst/>
          </a:prstGeom>
          <a:solidFill>
            <a:srgbClr val="EFEDEA"/>
          </a:solidFill>
          <a:ln w="12700">
            <a:solidFill>
              <a:srgbClr val="EFEDEA"/>
            </a:solidFill>
            <a:prstDash val="solid"/>
          </a:ln>
        </p:spPr>
      </p:sp>
      <p:sp>
        <p:nvSpPr>
          <p:cNvPr id="5" name="Text 3"/>
          <p:cNvSpPr/>
          <p:nvPr/>
        </p:nvSpPr>
        <p:spPr>
          <a:xfrm>
            <a:off x="914400" y="2286000"/>
            <a:ext cx="4754880" cy="365760"/>
          </a:xfrm>
          <a:prstGeom prst="rect">
            <a:avLst/>
          </a:prstGeom>
          <a:noFill/>
          <a:ln/>
        </p:spPr>
        <p:txBody>
          <a:bodyPr wrap="square" lIns="0" tIns="0" rIns="0" bIns="0" rtlCol="0" anchor="ctr"/>
          <a:lstStyle/>
          <a:p>
            <a:pPr indent="0" marL="0">
              <a:buNone/>
            </a:pPr>
            <a:r>
              <a:rPr lang="en-US" sz="1900" b="1" dirty="0">
                <a:solidFill>
                  <a:srgbClr val="840028"/>
                </a:solidFill>
                <a:latin typeface="Arial" pitchFamily="34" charset="0"/>
                <a:ea typeface="Arial" pitchFamily="34" charset="-122"/>
                <a:cs typeface="Arial" pitchFamily="34" charset="-120"/>
              </a:rPr>
              <a:t>LOGIN NODE</a:t>
            </a:r>
            <a:endParaRPr lang="en-US" sz="1900" dirty="0"/>
          </a:p>
        </p:txBody>
      </p:sp>
      <p:sp>
        <p:nvSpPr>
          <p:cNvPr id="6" name="Text 4"/>
          <p:cNvSpPr/>
          <p:nvPr/>
        </p:nvSpPr>
        <p:spPr>
          <a:xfrm>
            <a:off x="914400" y="2651760"/>
            <a:ext cx="4754880" cy="320040"/>
          </a:xfrm>
          <a:prstGeom prst="rect">
            <a:avLst/>
          </a:prstGeom>
          <a:noFill/>
          <a:ln/>
        </p:spPr>
        <p:txBody>
          <a:bodyPr wrap="square" lIns="0" tIns="0" rIns="0" bIns="0" rtlCol="0" anchor="ctr"/>
          <a:lstStyle/>
          <a:p>
            <a:pPr indent="0" marL="0">
              <a:buNone/>
            </a:pPr>
            <a:r>
              <a:rPr lang="en-US" sz="1500" i="1" dirty="0">
                <a:solidFill>
                  <a:srgbClr val="6E6E70"/>
                </a:solidFill>
                <a:latin typeface="Calibri" pitchFamily="34" charset="0"/>
                <a:ea typeface="Calibri" pitchFamily="34" charset="-122"/>
                <a:cs typeface="Calibri" pitchFamily="34" charset="-120"/>
              </a:rPr>
              <a:t>the shared lobby</a:t>
            </a:r>
            <a:endParaRPr lang="en-US" sz="1500" dirty="0"/>
          </a:p>
        </p:txBody>
      </p:sp>
      <p:sp>
        <p:nvSpPr>
          <p:cNvPr id="7" name="Text 5"/>
          <p:cNvSpPr/>
          <p:nvPr/>
        </p:nvSpPr>
        <p:spPr>
          <a:xfrm>
            <a:off x="960120" y="3063240"/>
            <a:ext cx="4754880" cy="1188720"/>
          </a:xfrm>
          <a:prstGeom prst="rect">
            <a:avLst/>
          </a:prstGeom>
          <a:noFill/>
          <a:ln/>
        </p:spPr>
        <p:txBody>
          <a:bodyPr wrap="square" lIns="0" tIns="0" rIns="0" bIns="0" rtlCol="0" anchor="ctr"/>
          <a:lstStyle/>
          <a:p>
            <a:pPr marL="342900" indent="-342900">
              <a:spcAft>
                <a:spcPts val="600"/>
              </a:spcAft>
              <a:buSzPct val="100000"/>
              <a:buChar char="•"/>
            </a:pPr>
            <a:r>
              <a:rPr lang="en-US" sz="1500" dirty="0">
                <a:solidFill>
                  <a:srgbClr val="1A1A1A"/>
                </a:solidFill>
                <a:latin typeface="Calibri" pitchFamily="34" charset="0"/>
                <a:ea typeface="Calibri" pitchFamily="34" charset="-122"/>
                <a:cs typeface="Calibri" pitchFamily="34" charset="-120"/>
              </a:rPr>
              <a:t>Everyone logs into the same space.</a:t>
            </a:r>
            <a:endParaRPr lang="en-US" sz="1500" dirty="0"/>
          </a:p>
          <a:p>
            <a:pPr marL="342900" indent="-342900">
              <a:buSzPct val="100000"/>
              <a:buChar char="•"/>
            </a:pPr>
            <a:r>
              <a:rPr lang="en-US" sz="1500" dirty="0">
                <a:solidFill>
                  <a:srgbClr val="1A1A1A"/>
                </a:solidFill>
                <a:latin typeface="Calibri" pitchFamily="34" charset="0"/>
                <a:ea typeface="Calibri" pitchFamily="34" charset="-122"/>
                <a:cs typeface="Calibri" pitchFamily="34" charset="-120"/>
              </a:rPr>
              <a:t>Fine for opening files and small setup.</a:t>
            </a:r>
            <a:endParaRPr lang="en-US" sz="1500" dirty="0"/>
          </a:p>
        </p:txBody>
      </p:sp>
      <p:sp>
        <p:nvSpPr>
          <p:cNvPr id="8" name="Shape 6"/>
          <p:cNvSpPr/>
          <p:nvPr/>
        </p:nvSpPr>
        <p:spPr>
          <a:xfrm>
            <a:off x="6446520" y="2103120"/>
            <a:ext cx="5349240" cy="2286000"/>
          </a:xfrm>
          <a:prstGeom prst="rect">
            <a:avLst/>
          </a:prstGeom>
          <a:solidFill>
            <a:srgbClr val="840028"/>
          </a:solidFill>
          <a:ln w="12700">
            <a:solidFill>
              <a:srgbClr val="840028"/>
            </a:solidFill>
            <a:prstDash val="solid"/>
          </a:ln>
        </p:spPr>
      </p:sp>
      <p:sp>
        <p:nvSpPr>
          <p:cNvPr id="9" name="Text 7"/>
          <p:cNvSpPr/>
          <p:nvPr/>
        </p:nvSpPr>
        <p:spPr>
          <a:xfrm>
            <a:off x="6720840" y="2286000"/>
            <a:ext cx="4754880" cy="365760"/>
          </a:xfrm>
          <a:prstGeom prst="rect">
            <a:avLst/>
          </a:prstGeom>
          <a:noFill/>
          <a:ln/>
        </p:spPr>
        <p:txBody>
          <a:bodyPr wrap="square" lIns="0" tIns="0" rIns="0" bIns="0" rtlCol="0" anchor="ctr"/>
          <a:lstStyle/>
          <a:p>
            <a:pPr indent="0" marL="0">
              <a:buNone/>
            </a:pPr>
            <a:r>
              <a:rPr lang="en-US" sz="1900" b="1" dirty="0">
                <a:solidFill>
                  <a:srgbClr val="C1A231"/>
                </a:solidFill>
                <a:latin typeface="Arial" pitchFamily="34" charset="0"/>
                <a:ea typeface="Arial" pitchFamily="34" charset="-122"/>
                <a:cs typeface="Arial" pitchFamily="34" charset="-120"/>
              </a:rPr>
              <a:t>COMPUTE NODE</a:t>
            </a:r>
            <a:endParaRPr lang="en-US" sz="1900" dirty="0"/>
          </a:p>
        </p:txBody>
      </p:sp>
      <p:sp>
        <p:nvSpPr>
          <p:cNvPr id="10" name="Text 8"/>
          <p:cNvSpPr/>
          <p:nvPr/>
        </p:nvSpPr>
        <p:spPr>
          <a:xfrm>
            <a:off x="6720840" y="2651760"/>
            <a:ext cx="4754880" cy="320040"/>
          </a:xfrm>
          <a:prstGeom prst="rect">
            <a:avLst/>
          </a:prstGeom>
          <a:noFill/>
          <a:ln/>
        </p:spPr>
        <p:txBody>
          <a:bodyPr wrap="square" lIns="0" tIns="0" rIns="0" bIns="0" rtlCol="0" anchor="ctr"/>
          <a:lstStyle/>
          <a:p>
            <a:pPr indent="0" marL="0">
              <a:buNone/>
            </a:pPr>
            <a:r>
              <a:rPr lang="en-US" sz="1500" i="1" dirty="0">
                <a:solidFill>
                  <a:srgbClr val="F0D9DE"/>
                </a:solidFill>
                <a:latin typeface="Calibri" pitchFamily="34" charset="0"/>
                <a:ea typeface="Calibri" pitchFamily="34" charset="-122"/>
                <a:cs typeface="Calibri" pitchFamily="34" charset="-120"/>
              </a:rPr>
              <a:t>your own workspace</a:t>
            </a:r>
            <a:endParaRPr lang="en-US" sz="1500" dirty="0"/>
          </a:p>
        </p:txBody>
      </p:sp>
      <p:sp>
        <p:nvSpPr>
          <p:cNvPr id="11" name="Text 9"/>
          <p:cNvSpPr/>
          <p:nvPr/>
        </p:nvSpPr>
        <p:spPr>
          <a:xfrm>
            <a:off x="6766560" y="3063240"/>
            <a:ext cx="4754880" cy="1188720"/>
          </a:xfrm>
          <a:prstGeom prst="rect">
            <a:avLst/>
          </a:prstGeom>
          <a:noFill/>
          <a:ln/>
        </p:spPr>
        <p:txBody>
          <a:bodyPr wrap="square" lIns="0" tIns="0" rIns="0" bIns="0" rtlCol="0" anchor="ctr"/>
          <a:lstStyle/>
          <a:p>
            <a:pPr marL="342900" indent="-342900">
              <a:spcAft>
                <a:spcPts val="600"/>
              </a:spcAft>
              <a:buSzPct val="100000"/>
              <a:buChar char="•"/>
            </a:pPr>
            <a:r>
              <a:rPr lang="en-US" sz="1500" dirty="0">
                <a:solidFill>
                  <a:srgbClr val="FFFFFF"/>
                </a:solidFill>
                <a:latin typeface="Calibri" pitchFamily="34" charset="0"/>
                <a:ea typeface="Calibri" pitchFamily="34" charset="-122"/>
                <a:cs typeface="Calibri" pitchFamily="34" charset="-120"/>
              </a:rPr>
              <a:t>Where all real computation runs.</a:t>
            </a:r>
            <a:endParaRPr lang="en-US" sz="1500" dirty="0"/>
          </a:p>
          <a:p>
            <a:pPr marL="342900" indent="-342900">
              <a:buSzPct val="100000"/>
              <a:buChar char="•"/>
            </a:pPr>
            <a:r>
              <a:rPr lang="en-US" sz="1500" dirty="0">
                <a:solidFill>
                  <a:srgbClr val="FFFFFF"/>
                </a:solidFill>
                <a:latin typeface="Calibri" pitchFamily="34" charset="0"/>
                <a:ea typeface="Calibri" pitchFamily="34" charset="-122"/>
                <a:cs typeface="Calibri" pitchFamily="34" charset="-120"/>
              </a:rPr>
              <a:t>You get your own, away from everyone else.</a:t>
            </a:r>
            <a:endParaRPr lang="en-US" sz="1500" dirty="0"/>
          </a:p>
        </p:txBody>
      </p:sp>
      <p:sp>
        <p:nvSpPr>
          <p:cNvPr id="12" name="Shape 10"/>
          <p:cNvSpPr/>
          <p:nvPr/>
        </p:nvSpPr>
        <p:spPr>
          <a:xfrm>
            <a:off x="640080" y="4709160"/>
            <a:ext cx="11155680" cy="960120"/>
          </a:xfrm>
          <a:prstGeom prst="rect">
            <a:avLst/>
          </a:prstGeom>
          <a:solidFill>
            <a:srgbClr val="5A001C"/>
          </a:solidFill>
          <a:ln w="19050">
            <a:solidFill>
              <a:srgbClr val="C1A231"/>
            </a:solidFill>
            <a:prstDash val="solid"/>
          </a:ln>
        </p:spPr>
      </p:sp>
      <p:sp>
        <p:nvSpPr>
          <p:cNvPr id="13" name="Text 11"/>
          <p:cNvSpPr/>
          <p:nvPr/>
        </p:nvSpPr>
        <p:spPr>
          <a:xfrm>
            <a:off x="960120" y="4709160"/>
            <a:ext cx="10515600" cy="96012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The rule: never run heavy work on a login node. It's the lobby everyone shares. Do real work on a compute node.</a:t>
            </a:r>
            <a:endParaRPr lang="en-US" sz="1800" dirty="0"/>
          </a:p>
        </p:txBody>
      </p:sp>
      <p:sp>
        <p:nvSpPr>
          <p:cNvPr id="14" name="Text 12"/>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48640"/>
            <a:ext cx="5486400" cy="320040"/>
          </a:xfrm>
          <a:prstGeom prst="rect">
            <a:avLst/>
          </a:prstGeom>
          <a:noFill/>
          <a:ln/>
        </p:spPr>
        <p:txBody>
          <a:bodyPr wrap="square" lIns="0" tIns="0" rIns="0" bIns="0" rtlCol="0" anchor="ctr"/>
          <a:lstStyle/>
          <a:p>
            <a:pPr algn="l" indent="0" marL="0">
              <a:buNone/>
            </a:pPr>
            <a:r>
              <a:rPr lang="en-US" sz="1300" b="1" spc="300" kern="0" dirty="0">
                <a:solidFill>
                  <a:srgbClr val="C1A231"/>
                </a:solidFill>
                <a:latin typeface="Arial" pitchFamily="34" charset="0"/>
                <a:ea typeface="Arial" pitchFamily="34" charset="-122"/>
                <a:cs typeface="Arial" pitchFamily="34" charset="-120"/>
              </a:rPr>
              <a:t>HOW YOU USE IT</a:t>
            </a:r>
            <a:endParaRPr lang="en-US" sz="1300" dirty="0"/>
          </a:p>
        </p:txBody>
      </p:sp>
      <p:sp>
        <p:nvSpPr>
          <p:cNvPr id="3" name="Text 1"/>
          <p:cNvSpPr/>
          <p:nvPr/>
        </p:nvSpPr>
        <p:spPr>
          <a:xfrm>
            <a:off x="640080" y="868680"/>
            <a:ext cx="10972800" cy="822960"/>
          </a:xfrm>
          <a:prstGeom prst="rect">
            <a:avLst/>
          </a:prstGeom>
          <a:noFill/>
          <a:ln/>
        </p:spPr>
        <p:txBody>
          <a:bodyPr wrap="square" lIns="0" tIns="0" rIns="0" bIns="0" rtlCol="0" anchor="ctr"/>
          <a:lstStyle/>
          <a:p>
            <a:pPr indent="0" marL="0">
              <a:buNone/>
            </a:pPr>
            <a:r>
              <a:rPr lang="en-US" sz="3200" b="1" dirty="0">
                <a:solidFill>
                  <a:srgbClr val="840028"/>
                </a:solidFill>
                <a:latin typeface="Arial" pitchFamily="34" charset="0"/>
                <a:ea typeface="Arial" pitchFamily="34" charset="-122"/>
                <a:cs typeface="Arial" pitchFamily="34" charset="-120"/>
              </a:rPr>
              <a:t>Getting onto the compute nodes</a:t>
            </a:r>
            <a:endParaRPr lang="en-US" sz="3200" dirty="0"/>
          </a:p>
        </p:txBody>
      </p:sp>
      <p:sp>
        <p:nvSpPr>
          <p:cNvPr id="4" name="Shape 2"/>
          <p:cNvSpPr/>
          <p:nvPr/>
        </p:nvSpPr>
        <p:spPr>
          <a:xfrm>
            <a:off x="640080" y="2057400"/>
            <a:ext cx="2743200" cy="914400"/>
          </a:xfrm>
          <a:prstGeom prst="roundRect">
            <a:avLst>
              <a:gd name="adj" fmla="val 8000"/>
            </a:avLst>
          </a:prstGeom>
          <a:solidFill>
            <a:srgbClr val="EFEDEA"/>
          </a:solidFill>
          <a:ln w="12700">
            <a:solidFill>
              <a:srgbClr val="6E6E70"/>
            </a:solidFill>
            <a:prstDash val="solid"/>
          </a:ln>
        </p:spPr>
      </p:sp>
      <p:sp>
        <p:nvSpPr>
          <p:cNvPr id="5" name="Text 3"/>
          <p:cNvSpPr/>
          <p:nvPr/>
        </p:nvSpPr>
        <p:spPr>
          <a:xfrm>
            <a:off x="640080" y="2057400"/>
            <a:ext cx="2743200"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Arial" pitchFamily="34" charset="0"/>
                <a:ea typeface="Arial" pitchFamily="34" charset="-122"/>
                <a:cs typeface="Arial" pitchFamily="34" charset="-120"/>
              </a:rPr>
              <a:t>your laptop</a:t>
            </a:r>
            <a:endParaRPr lang="en-US" sz="1600" dirty="0"/>
          </a:p>
        </p:txBody>
      </p:sp>
      <p:sp>
        <p:nvSpPr>
          <p:cNvPr id="6" name="Shape 4"/>
          <p:cNvSpPr/>
          <p:nvPr/>
        </p:nvSpPr>
        <p:spPr>
          <a:xfrm>
            <a:off x="4709160" y="2057400"/>
            <a:ext cx="2743200" cy="914400"/>
          </a:xfrm>
          <a:prstGeom prst="rect">
            <a:avLst/>
          </a:prstGeom>
          <a:solidFill>
            <a:srgbClr val="EFEDEA"/>
          </a:solidFill>
          <a:ln w="12700">
            <a:solidFill>
              <a:srgbClr val="6E6E70"/>
            </a:solidFill>
            <a:prstDash val="solid"/>
          </a:ln>
        </p:spPr>
      </p:sp>
      <p:sp>
        <p:nvSpPr>
          <p:cNvPr id="7" name="Text 5"/>
          <p:cNvSpPr/>
          <p:nvPr/>
        </p:nvSpPr>
        <p:spPr>
          <a:xfrm>
            <a:off x="4709160" y="2057400"/>
            <a:ext cx="2743200" cy="914400"/>
          </a:xfrm>
          <a:prstGeom prst="rect">
            <a:avLst/>
          </a:prstGeom>
          <a:noFill/>
          <a:ln/>
        </p:spPr>
        <p:txBody>
          <a:bodyPr wrap="square" lIns="0" tIns="0" rIns="0" bIns="0" rtlCol="0" anchor="ctr"/>
          <a:lstStyle/>
          <a:p>
            <a:pPr algn="ctr" indent="0" marL="0">
              <a:buNone/>
            </a:pPr>
            <a:r>
              <a:rPr lang="en-US" sz="1500" b="1" dirty="0">
                <a:solidFill>
                  <a:srgbClr val="1A1A1A"/>
                </a:solidFill>
                <a:latin typeface="Arial" pitchFamily="34" charset="0"/>
                <a:ea typeface="Arial" pitchFamily="34" charset="-122"/>
                <a:cs typeface="Arial" pitchFamily="34" charset="-120"/>
              </a:rPr>
              <a:t>login node</a:t>
            </a:r>
            <a:endParaRPr lang="en-US" sz="1500" dirty="0"/>
          </a:p>
          <a:p>
            <a:pPr algn="ctr" indent="0" marL="0">
              <a:buNone/>
            </a:pPr>
            <a:r>
              <a:rPr lang="en-US" sz="1500" b="1" dirty="0">
                <a:solidFill>
                  <a:srgbClr val="1A1A1A"/>
                </a:solidFill>
                <a:latin typeface="Arial" pitchFamily="34" charset="0"/>
                <a:ea typeface="Arial" pitchFamily="34" charset="-122"/>
                <a:cs typeface="Arial" pitchFamily="34" charset="-120"/>
              </a:rPr>
              <a:t>(the lobby)</a:t>
            </a:r>
            <a:endParaRPr lang="en-US" sz="1500" dirty="0"/>
          </a:p>
        </p:txBody>
      </p:sp>
      <p:sp>
        <p:nvSpPr>
          <p:cNvPr id="8" name="Shape 6"/>
          <p:cNvSpPr/>
          <p:nvPr/>
        </p:nvSpPr>
        <p:spPr>
          <a:xfrm>
            <a:off x="9418320" y="2057400"/>
            <a:ext cx="2377440" cy="914400"/>
          </a:xfrm>
          <a:prstGeom prst="rect">
            <a:avLst/>
          </a:prstGeom>
          <a:solidFill>
            <a:srgbClr val="840028"/>
          </a:solidFill>
          <a:ln w="12700">
            <a:solidFill>
              <a:srgbClr val="840028"/>
            </a:solidFill>
            <a:prstDash val="solid"/>
          </a:ln>
        </p:spPr>
      </p:sp>
      <p:sp>
        <p:nvSpPr>
          <p:cNvPr id="9" name="Text 7"/>
          <p:cNvSpPr/>
          <p:nvPr/>
        </p:nvSpPr>
        <p:spPr>
          <a:xfrm>
            <a:off x="9418320" y="2057400"/>
            <a:ext cx="2377440" cy="914400"/>
          </a:xfrm>
          <a:prstGeom prst="rect">
            <a:avLst/>
          </a:prstGeom>
          <a:noFill/>
          <a:ln/>
        </p:spPr>
        <p:txBody>
          <a:bodyPr wrap="square" lIns="0" tIns="0" rIns="0" bIns="0" rtlCol="0" anchor="ctr"/>
          <a:lstStyle/>
          <a:p>
            <a:pPr algn="ctr" indent="0" marL="0">
              <a:buNone/>
            </a:pPr>
            <a:r>
              <a:rPr lang="en-US" sz="1500" b="1" dirty="0">
                <a:solidFill>
                  <a:srgbClr val="C1A231"/>
                </a:solidFill>
                <a:latin typeface="Arial" pitchFamily="34" charset="0"/>
                <a:ea typeface="Arial" pitchFamily="34" charset="-122"/>
                <a:cs typeface="Arial" pitchFamily="34" charset="-120"/>
              </a:rPr>
              <a:t>compute</a:t>
            </a:r>
            <a:endParaRPr lang="en-US" sz="1500" dirty="0"/>
          </a:p>
          <a:p>
            <a:pPr algn="ctr" indent="0" marL="0">
              <a:buNone/>
            </a:pPr>
            <a:r>
              <a:rPr lang="en-US" sz="1500" b="1" dirty="0">
                <a:solidFill>
                  <a:srgbClr val="C1A231"/>
                </a:solidFill>
                <a:latin typeface="Arial" pitchFamily="34" charset="0"/>
                <a:ea typeface="Arial" pitchFamily="34" charset="-122"/>
                <a:cs typeface="Arial" pitchFamily="34" charset="-120"/>
              </a:rPr>
              <a:t>nodes</a:t>
            </a:r>
            <a:endParaRPr lang="en-US" sz="1500" dirty="0"/>
          </a:p>
        </p:txBody>
      </p:sp>
      <p:sp>
        <p:nvSpPr>
          <p:cNvPr id="10" name="Text 8"/>
          <p:cNvSpPr/>
          <p:nvPr/>
        </p:nvSpPr>
        <p:spPr>
          <a:xfrm>
            <a:off x="3246120" y="1673352"/>
            <a:ext cx="1554480" cy="365760"/>
          </a:xfrm>
          <a:prstGeom prst="rect">
            <a:avLst/>
          </a:prstGeom>
          <a:noFill/>
          <a:ln/>
        </p:spPr>
        <p:txBody>
          <a:bodyPr wrap="square" lIns="0" tIns="0" rIns="0" bIns="0" rtlCol="0" anchor="ctr"/>
          <a:lstStyle/>
          <a:p>
            <a:pPr algn="ctr" indent="0" marL="0">
              <a:buNone/>
            </a:pPr>
            <a:r>
              <a:rPr lang="en-US" sz="1300" b="1" dirty="0">
                <a:solidFill>
                  <a:srgbClr val="840028"/>
                </a:solidFill>
                <a:latin typeface="Calibri" pitchFamily="34" charset="0"/>
                <a:ea typeface="Calibri" pitchFamily="34" charset="-122"/>
                <a:cs typeface="Calibri" pitchFamily="34" charset="-120"/>
              </a:rPr>
              <a:t>1. log in</a:t>
            </a:r>
            <a:endParaRPr lang="en-US" sz="1300" dirty="0"/>
          </a:p>
        </p:txBody>
      </p:sp>
      <p:sp>
        <p:nvSpPr>
          <p:cNvPr id="11" name="Text 9"/>
          <p:cNvSpPr/>
          <p:nvPr/>
        </p:nvSpPr>
        <p:spPr>
          <a:xfrm>
            <a:off x="7315200" y="1673352"/>
            <a:ext cx="2194560" cy="365760"/>
          </a:xfrm>
          <a:prstGeom prst="rect">
            <a:avLst/>
          </a:prstGeom>
          <a:noFill/>
          <a:ln/>
        </p:spPr>
        <p:txBody>
          <a:bodyPr wrap="square" lIns="0" tIns="0" rIns="0" bIns="0" rtlCol="0" anchor="ctr"/>
          <a:lstStyle/>
          <a:p>
            <a:pPr algn="ctr" indent="0" marL="0">
              <a:buNone/>
            </a:pPr>
            <a:r>
              <a:rPr lang="en-US" sz="1300" b="1" dirty="0">
                <a:solidFill>
                  <a:srgbClr val="840028"/>
                </a:solidFill>
                <a:latin typeface="Calibri" pitchFamily="34" charset="0"/>
                <a:ea typeface="Calibri" pitchFamily="34" charset="-122"/>
                <a:cs typeface="Calibri" pitchFamily="34" charset="-120"/>
              </a:rPr>
              <a:t>2. get a node</a:t>
            </a:r>
            <a:endParaRPr lang="en-US" sz="1300" dirty="0"/>
          </a:p>
        </p:txBody>
      </p:sp>
      <p:sp>
        <p:nvSpPr>
          <p:cNvPr id="12" name="Text 10"/>
          <p:cNvSpPr/>
          <p:nvPr/>
        </p:nvSpPr>
        <p:spPr>
          <a:xfrm>
            <a:off x="3794760" y="2148840"/>
            <a:ext cx="914400" cy="914400"/>
          </a:xfrm>
          <a:prstGeom prst="rect">
            <a:avLst/>
          </a:prstGeom>
          <a:noFill/>
          <a:ln/>
        </p:spPr>
        <p:txBody>
          <a:bodyPr wrap="square" lIns="0" tIns="0" rIns="0" bIns="0" rtlCol="0" anchor="ctr"/>
          <a:lstStyle/>
          <a:p>
            <a:pPr algn="ctr" indent="0" marL="0">
              <a:buNone/>
            </a:pPr>
            <a:r>
              <a:rPr lang="en-US" sz="3000" b="1" dirty="0">
                <a:solidFill>
                  <a:srgbClr val="C1A231"/>
                </a:solidFill>
                <a:latin typeface="Arial" pitchFamily="34" charset="0"/>
                <a:ea typeface="Arial" pitchFamily="34" charset="-122"/>
                <a:cs typeface="Arial" pitchFamily="34" charset="-120"/>
              </a:rPr>
              <a:t>→</a:t>
            </a:r>
            <a:endParaRPr lang="en-US" sz="3000" dirty="0"/>
          </a:p>
        </p:txBody>
      </p:sp>
      <p:sp>
        <p:nvSpPr>
          <p:cNvPr id="13" name="Text 11"/>
          <p:cNvSpPr/>
          <p:nvPr/>
        </p:nvSpPr>
        <p:spPr>
          <a:xfrm>
            <a:off x="7589520" y="2148840"/>
            <a:ext cx="1828800" cy="914400"/>
          </a:xfrm>
          <a:prstGeom prst="rect">
            <a:avLst/>
          </a:prstGeom>
          <a:noFill/>
          <a:ln/>
        </p:spPr>
        <p:txBody>
          <a:bodyPr wrap="square" lIns="0" tIns="0" rIns="0" bIns="0" rtlCol="0" anchor="ctr"/>
          <a:lstStyle/>
          <a:p>
            <a:pPr algn="ctr" indent="0" marL="0">
              <a:buNone/>
            </a:pPr>
            <a:r>
              <a:rPr lang="en-US" sz="3000" b="1" dirty="0">
                <a:solidFill>
                  <a:srgbClr val="C1A231"/>
                </a:solidFill>
                <a:latin typeface="Arial" pitchFamily="34" charset="0"/>
                <a:ea typeface="Arial" pitchFamily="34" charset="-122"/>
                <a:cs typeface="Arial" pitchFamily="34" charset="-120"/>
              </a:rPr>
              <a:t>→</a:t>
            </a:r>
            <a:endParaRPr lang="en-US" sz="3000" dirty="0"/>
          </a:p>
        </p:txBody>
      </p:sp>
      <p:sp>
        <p:nvSpPr>
          <p:cNvPr id="14" name="Text 12"/>
          <p:cNvSpPr/>
          <p:nvPr/>
        </p:nvSpPr>
        <p:spPr>
          <a:xfrm>
            <a:off x="640080" y="3429000"/>
            <a:ext cx="10972800" cy="365760"/>
          </a:xfrm>
          <a:prstGeom prst="rect">
            <a:avLst/>
          </a:prstGeom>
          <a:noFill/>
          <a:ln/>
        </p:spPr>
        <p:txBody>
          <a:bodyPr wrap="square" lIns="0" tIns="0" rIns="0" bIns="0" rtlCol="0" anchor="ctr"/>
          <a:lstStyle/>
          <a:p>
            <a:pPr indent="0" marL="0">
              <a:buNone/>
            </a:pPr>
            <a:r>
              <a:rPr lang="en-US" sz="1800" b="1" dirty="0">
                <a:solidFill>
                  <a:srgbClr val="840028"/>
                </a:solidFill>
                <a:latin typeface="Arial" pitchFamily="34" charset="0"/>
                <a:ea typeface="Arial" pitchFamily="34" charset="-122"/>
                <a:cs typeface="Arial" pitchFamily="34" charset="-120"/>
              </a:rPr>
              <a:t>Three ways to get a compute node:</a:t>
            </a:r>
            <a:endParaRPr lang="en-US" sz="1800" dirty="0"/>
          </a:p>
        </p:txBody>
      </p:sp>
      <p:sp>
        <p:nvSpPr>
          <p:cNvPr id="15" name="Shape 13"/>
          <p:cNvSpPr/>
          <p:nvPr/>
        </p:nvSpPr>
        <p:spPr>
          <a:xfrm>
            <a:off x="640080" y="3886200"/>
            <a:ext cx="3566160" cy="1325880"/>
          </a:xfrm>
          <a:prstGeom prst="rect">
            <a:avLst/>
          </a:prstGeom>
          <a:solidFill>
            <a:srgbClr val="EFEDEA"/>
          </a:solidFill>
          <a:ln w="12700">
            <a:solidFill>
              <a:srgbClr val="EFEDEA"/>
            </a:solidFill>
            <a:prstDash val="solid"/>
          </a:ln>
        </p:spPr>
      </p:sp>
      <p:sp>
        <p:nvSpPr>
          <p:cNvPr id="16" name="Text 14"/>
          <p:cNvSpPr/>
          <p:nvPr/>
        </p:nvSpPr>
        <p:spPr>
          <a:xfrm>
            <a:off x="868680" y="4023360"/>
            <a:ext cx="3108960" cy="411480"/>
          </a:xfrm>
          <a:prstGeom prst="rect">
            <a:avLst/>
          </a:prstGeom>
          <a:noFill/>
          <a:ln/>
        </p:spPr>
        <p:txBody>
          <a:bodyPr wrap="square" lIns="0" tIns="0" rIns="0" bIns="0" rtlCol="0" anchor="ctr"/>
          <a:lstStyle/>
          <a:p>
            <a:pPr indent="0" marL="0">
              <a:buNone/>
            </a:pPr>
            <a:r>
              <a:rPr lang="en-US" sz="1700" b="1" dirty="0">
                <a:solidFill>
                  <a:srgbClr val="840028"/>
                </a:solidFill>
                <a:latin typeface="Arial" pitchFamily="34" charset="0"/>
                <a:ea typeface="Arial" pitchFamily="34" charset="-122"/>
                <a:cs typeface="Arial" pitchFamily="34" charset="-120"/>
              </a:rPr>
              <a:t>idev</a:t>
            </a:r>
            <a:endParaRPr lang="en-US" sz="1700" dirty="0"/>
          </a:p>
        </p:txBody>
      </p:sp>
      <p:sp>
        <p:nvSpPr>
          <p:cNvPr id="17" name="Text 15"/>
          <p:cNvSpPr/>
          <p:nvPr/>
        </p:nvSpPr>
        <p:spPr>
          <a:xfrm>
            <a:off x="868680" y="4434840"/>
            <a:ext cx="3108960" cy="731520"/>
          </a:xfrm>
          <a:prstGeom prst="rect">
            <a:avLst/>
          </a:prstGeom>
          <a:noFill/>
          <a:ln/>
        </p:spPr>
        <p:txBody>
          <a:bodyPr wrap="square" lIns="0" tIns="0" rIns="0" bIns="0" rtlCol="0" anchor="t"/>
          <a:lstStyle/>
          <a:p>
            <a:pPr indent="0" marL="0">
              <a:buNone/>
            </a:pPr>
            <a:r>
              <a:rPr lang="en-US" sz="1350" dirty="0">
                <a:solidFill>
                  <a:srgbClr val="1A1A1A"/>
                </a:solidFill>
                <a:latin typeface="Calibri" pitchFamily="34" charset="0"/>
                <a:ea typeface="Calibri" pitchFamily="34" charset="-122"/>
                <a:cs typeface="Calibri" pitchFamily="34" charset="-120"/>
              </a:rPr>
              <a:t>An interactive session: grab a node and work on it live.</a:t>
            </a:r>
            <a:endParaRPr lang="en-US" sz="1350" dirty="0"/>
          </a:p>
        </p:txBody>
      </p:sp>
      <p:sp>
        <p:nvSpPr>
          <p:cNvPr id="18" name="Shape 16"/>
          <p:cNvSpPr/>
          <p:nvPr/>
        </p:nvSpPr>
        <p:spPr>
          <a:xfrm>
            <a:off x="4434840" y="3886200"/>
            <a:ext cx="3566160" cy="1325880"/>
          </a:xfrm>
          <a:prstGeom prst="rect">
            <a:avLst/>
          </a:prstGeom>
          <a:solidFill>
            <a:srgbClr val="EFEDEA"/>
          </a:solidFill>
          <a:ln w="12700">
            <a:solidFill>
              <a:srgbClr val="EFEDEA"/>
            </a:solidFill>
            <a:prstDash val="solid"/>
          </a:ln>
        </p:spPr>
      </p:sp>
      <p:sp>
        <p:nvSpPr>
          <p:cNvPr id="19" name="Text 17"/>
          <p:cNvSpPr/>
          <p:nvPr/>
        </p:nvSpPr>
        <p:spPr>
          <a:xfrm>
            <a:off x="4663440" y="4023360"/>
            <a:ext cx="3108960" cy="411480"/>
          </a:xfrm>
          <a:prstGeom prst="rect">
            <a:avLst/>
          </a:prstGeom>
          <a:noFill/>
          <a:ln/>
        </p:spPr>
        <p:txBody>
          <a:bodyPr wrap="square" lIns="0" tIns="0" rIns="0" bIns="0" rtlCol="0" anchor="ctr"/>
          <a:lstStyle/>
          <a:p>
            <a:pPr indent="0" marL="0">
              <a:buNone/>
            </a:pPr>
            <a:r>
              <a:rPr lang="en-US" sz="1700" b="1" dirty="0">
                <a:solidFill>
                  <a:srgbClr val="840028"/>
                </a:solidFill>
                <a:latin typeface="Arial" pitchFamily="34" charset="0"/>
                <a:ea typeface="Arial" pitchFamily="34" charset="-122"/>
                <a:cs typeface="Arial" pitchFamily="34" charset="-120"/>
              </a:rPr>
              <a:t>reservation</a:t>
            </a:r>
            <a:endParaRPr lang="en-US" sz="1700" dirty="0"/>
          </a:p>
        </p:txBody>
      </p:sp>
      <p:sp>
        <p:nvSpPr>
          <p:cNvPr id="20" name="Text 18"/>
          <p:cNvSpPr/>
          <p:nvPr/>
        </p:nvSpPr>
        <p:spPr>
          <a:xfrm>
            <a:off x="4663440" y="4434840"/>
            <a:ext cx="3108960" cy="731520"/>
          </a:xfrm>
          <a:prstGeom prst="rect">
            <a:avLst/>
          </a:prstGeom>
          <a:noFill/>
          <a:ln/>
        </p:spPr>
        <p:txBody>
          <a:bodyPr wrap="square" lIns="0" tIns="0" rIns="0" bIns="0" rtlCol="0" anchor="t"/>
          <a:lstStyle/>
          <a:p>
            <a:pPr indent="0" marL="0">
              <a:buNone/>
            </a:pPr>
            <a:r>
              <a:rPr lang="en-US" sz="1350" dirty="0">
                <a:solidFill>
                  <a:srgbClr val="1A1A1A"/>
                </a:solidFill>
                <a:latin typeface="Calibri" pitchFamily="34" charset="0"/>
                <a:ea typeface="Calibri" pitchFamily="34" charset="-122"/>
                <a:cs typeface="Calibri" pitchFamily="34" charset="-120"/>
              </a:rPr>
              <a:t>Nodes set aside in advance. We're using a reservation today.</a:t>
            </a:r>
            <a:endParaRPr lang="en-US" sz="1350" dirty="0"/>
          </a:p>
        </p:txBody>
      </p:sp>
      <p:sp>
        <p:nvSpPr>
          <p:cNvPr id="21" name="Shape 19"/>
          <p:cNvSpPr/>
          <p:nvPr/>
        </p:nvSpPr>
        <p:spPr>
          <a:xfrm>
            <a:off x="8229600" y="3886200"/>
            <a:ext cx="3566160" cy="1325880"/>
          </a:xfrm>
          <a:prstGeom prst="rect">
            <a:avLst/>
          </a:prstGeom>
          <a:solidFill>
            <a:srgbClr val="EFEDEA"/>
          </a:solidFill>
          <a:ln w="12700">
            <a:solidFill>
              <a:srgbClr val="EFEDEA"/>
            </a:solidFill>
            <a:prstDash val="solid"/>
          </a:ln>
        </p:spPr>
      </p:sp>
      <p:sp>
        <p:nvSpPr>
          <p:cNvPr id="22" name="Text 20"/>
          <p:cNvSpPr/>
          <p:nvPr/>
        </p:nvSpPr>
        <p:spPr>
          <a:xfrm>
            <a:off x="8458200" y="4023360"/>
            <a:ext cx="3108960" cy="411480"/>
          </a:xfrm>
          <a:prstGeom prst="rect">
            <a:avLst/>
          </a:prstGeom>
          <a:noFill/>
          <a:ln/>
        </p:spPr>
        <p:txBody>
          <a:bodyPr wrap="square" lIns="0" tIns="0" rIns="0" bIns="0" rtlCol="0" anchor="ctr"/>
          <a:lstStyle/>
          <a:p>
            <a:pPr indent="0" marL="0">
              <a:buNone/>
            </a:pPr>
            <a:r>
              <a:rPr lang="en-US" sz="1700" b="1" dirty="0">
                <a:solidFill>
                  <a:srgbClr val="840028"/>
                </a:solidFill>
                <a:latin typeface="Arial" pitchFamily="34" charset="0"/>
                <a:ea typeface="Arial" pitchFamily="34" charset="-122"/>
                <a:cs typeface="Arial" pitchFamily="34" charset="-120"/>
              </a:rPr>
              <a:t>submit a job</a:t>
            </a:r>
            <a:endParaRPr lang="en-US" sz="1700" dirty="0"/>
          </a:p>
        </p:txBody>
      </p:sp>
      <p:sp>
        <p:nvSpPr>
          <p:cNvPr id="23" name="Text 21"/>
          <p:cNvSpPr/>
          <p:nvPr/>
        </p:nvSpPr>
        <p:spPr>
          <a:xfrm>
            <a:off x="8458200" y="4434840"/>
            <a:ext cx="3108960" cy="731520"/>
          </a:xfrm>
          <a:prstGeom prst="rect">
            <a:avLst/>
          </a:prstGeom>
          <a:noFill/>
          <a:ln/>
        </p:spPr>
        <p:txBody>
          <a:bodyPr wrap="square" lIns="0" tIns="0" rIns="0" bIns="0" rtlCol="0" anchor="t"/>
          <a:lstStyle/>
          <a:p>
            <a:pPr indent="0" marL="0">
              <a:buNone/>
            </a:pPr>
            <a:r>
              <a:rPr lang="en-US" sz="1350" dirty="0">
                <a:solidFill>
                  <a:srgbClr val="1A1A1A"/>
                </a:solidFill>
                <a:latin typeface="Calibri" pitchFamily="34" charset="0"/>
                <a:ea typeface="Calibri" pitchFamily="34" charset="-122"/>
                <a:cs typeface="Calibri" pitchFamily="34" charset="-120"/>
              </a:rPr>
              <a:t>Put a request in the queue; the scheduler runs it when nodes are free.</a:t>
            </a:r>
            <a:endParaRPr lang="en-US" sz="1350" dirty="0"/>
          </a:p>
        </p:txBody>
      </p:sp>
      <p:sp>
        <p:nvSpPr>
          <p:cNvPr id="24" name="Text 22"/>
          <p:cNvSpPr/>
          <p:nvPr/>
        </p:nvSpPr>
        <p:spPr>
          <a:xfrm>
            <a:off x="640080" y="5440680"/>
            <a:ext cx="11155680" cy="548640"/>
          </a:xfrm>
          <a:prstGeom prst="rect">
            <a:avLst/>
          </a:prstGeom>
          <a:noFill/>
          <a:ln/>
        </p:spPr>
        <p:txBody>
          <a:bodyPr wrap="square" lIns="0" tIns="0" rIns="0" bIns="0" rtlCol="0" anchor="ctr"/>
          <a:lstStyle/>
          <a:p>
            <a:pPr indent="0" marL="0">
              <a:buNone/>
            </a:pPr>
            <a:r>
              <a:rPr lang="en-US" sz="1500" i="1" dirty="0">
                <a:solidFill>
                  <a:srgbClr val="6E6E70"/>
                </a:solidFill>
                <a:latin typeface="Calibri" pitchFamily="34" charset="0"/>
                <a:ea typeface="Calibri" pitchFamily="34" charset="-122"/>
                <a:cs typeface="Calibri" pitchFamily="34" charset="-120"/>
              </a:rPr>
              <a:t>A job = “run this program, on this many nodes, for this long.”  We have a reservation today, so we'll get nodes right away, no waiting in the queue.</a:t>
            </a:r>
            <a:endParaRPr lang="en-US" sz="1500" dirty="0"/>
          </a:p>
        </p:txBody>
      </p:sp>
      <p:sp>
        <p:nvSpPr>
          <p:cNvPr id="25" name="Text 23"/>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48640"/>
            <a:ext cx="5486400" cy="320040"/>
          </a:xfrm>
          <a:prstGeom prst="rect">
            <a:avLst/>
          </a:prstGeom>
          <a:noFill/>
          <a:ln/>
        </p:spPr>
        <p:txBody>
          <a:bodyPr wrap="square" lIns="0" tIns="0" rIns="0" bIns="0" rtlCol="0" anchor="ctr"/>
          <a:lstStyle/>
          <a:p>
            <a:pPr algn="l" indent="0" marL="0">
              <a:buNone/>
            </a:pPr>
            <a:r>
              <a:rPr lang="en-US" sz="1300" b="1" spc="300" kern="0" dirty="0">
                <a:solidFill>
                  <a:srgbClr val="C1A231"/>
                </a:solidFill>
                <a:latin typeface="Arial" pitchFamily="34" charset="0"/>
                <a:ea typeface="Arial" pitchFamily="34" charset="-122"/>
                <a:cs typeface="Arial" pitchFamily="34" charset="-120"/>
              </a:rPr>
              <a:t>REAL SCIENCE</a:t>
            </a:r>
            <a:endParaRPr lang="en-US" sz="1300" dirty="0"/>
          </a:p>
        </p:txBody>
      </p:sp>
      <p:sp>
        <p:nvSpPr>
          <p:cNvPr id="3" name="Text 1"/>
          <p:cNvSpPr/>
          <p:nvPr/>
        </p:nvSpPr>
        <p:spPr>
          <a:xfrm>
            <a:off x="640080" y="868680"/>
            <a:ext cx="10972800" cy="822960"/>
          </a:xfrm>
          <a:prstGeom prst="rect">
            <a:avLst/>
          </a:prstGeom>
          <a:noFill/>
          <a:ln/>
        </p:spPr>
        <p:txBody>
          <a:bodyPr wrap="square" lIns="0" tIns="0" rIns="0" bIns="0" rtlCol="0" anchor="ctr"/>
          <a:lstStyle/>
          <a:p>
            <a:pPr indent="0" marL="0">
              <a:buNone/>
            </a:pPr>
            <a:r>
              <a:rPr lang="en-US" sz="3200" b="1" dirty="0">
                <a:solidFill>
                  <a:srgbClr val="840028"/>
                </a:solidFill>
                <a:latin typeface="Arial" pitchFamily="34" charset="0"/>
                <a:ea typeface="Arial" pitchFamily="34" charset="-122"/>
                <a:cs typeface="Arial" pitchFamily="34" charset="-120"/>
              </a:rPr>
              <a:t>What researchers actually run on it</a:t>
            </a:r>
            <a:endParaRPr lang="en-US" sz="3200" dirty="0"/>
          </a:p>
        </p:txBody>
      </p:sp>
      <p:sp>
        <p:nvSpPr>
          <p:cNvPr id="4" name="Shape 2"/>
          <p:cNvSpPr/>
          <p:nvPr/>
        </p:nvSpPr>
        <p:spPr>
          <a:xfrm>
            <a:off x="640080" y="2286000"/>
            <a:ext cx="548640" cy="548640"/>
          </a:xfrm>
          <a:prstGeom prst="ellipse">
            <a:avLst/>
          </a:prstGeom>
          <a:solidFill>
            <a:srgbClr val="840028"/>
          </a:solidFill>
          <a:ln w="12700">
            <a:solidFill>
              <a:srgbClr val="840028"/>
            </a:solidFill>
            <a:prstDash val="solid"/>
          </a:ln>
        </p:spPr>
      </p:sp>
      <p:sp>
        <p:nvSpPr>
          <p:cNvPr id="5" name="Text 3"/>
          <p:cNvSpPr/>
          <p:nvPr/>
        </p:nvSpPr>
        <p:spPr>
          <a:xfrm>
            <a:off x="640080" y="2286000"/>
            <a:ext cx="548640" cy="548640"/>
          </a:xfrm>
          <a:prstGeom prst="rect">
            <a:avLst/>
          </a:prstGeom>
          <a:noFill/>
          <a:ln/>
        </p:spPr>
        <p:txBody>
          <a:bodyPr wrap="square" lIns="0" tIns="0" rIns="0" bIns="0" rtlCol="0" anchor="ctr"/>
          <a:lstStyle/>
          <a:p>
            <a:pPr algn="ctr" indent="0" marL="0">
              <a:buNone/>
            </a:pPr>
            <a:r>
              <a:rPr lang="en-US" sz="2200" b="1" dirty="0">
                <a:solidFill>
                  <a:srgbClr val="C1A231"/>
                </a:solidFill>
                <a:latin typeface="Arial" pitchFamily="34" charset="0"/>
                <a:ea typeface="Arial" pitchFamily="34" charset="-122"/>
                <a:cs typeface="Arial" pitchFamily="34" charset="-120"/>
              </a:rPr>
              <a:t>1</a:t>
            </a:r>
            <a:endParaRPr lang="en-US" sz="2200" dirty="0"/>
          </a:p>
        </p:txBody>
      </p:sp>
      <p:sp>
        <p:nvSpPr>
          <p:cNvPr id="6" name="Text 4"/>
          <p:cNvSpPr/>
          <p:nvPr/>
        </p:nvSpPr>
        <p:spPr>
          <a:xfrm>
            <a:off x="1417320" y="2240280"/>
            <a:ext cx="4572000" cy="457200"/>
          </a:xfrm>
          <a:prstGeom prst="rect">
            <a:avLst/>
          </a:prstGeom>
          <a:noFill/>
          <a:ln/>
        </p:spPr>
        <p:txBody>
          <a:bodyPr wrap="square" lIns="0" tIns="0" rIns="0" bIns="0" rtlCol="0" anchor="ctr"/>
          <a:lstStyle/>
          <a:p>
            <a:pPr indent="0" marL="0">
              <a:buNone/>
            </a:pPr>
            <a:r>
              <a:rPr lang="en-US" sz="2000" b="1" dirty="0">
                <a:solidFill>
                  <a:srgbClr val="1A1A1A"/>
                </a:solidFill>
                <a:latin typeface="Arial" pitchFamily="34" charset="0"/>
                <a:ea typeface="Arial" pitchFamily="34" charset="-122"/>
                <a:cs typeface="Arial" pitchFamily="34" charset="-120"/>
              </a:rPr>
              <a:t>Hurricanes and weather</a:t>
            </a:r>
            <a:endParaRPr lang="en-US" sz="2000" dirty="0"/>
          </a:p>
        </p:txBody>
      </p:sp>
      <p:sp>
        <p:nvSpPr>
          <p:cNvPr id="7" name="Text 5"/>
          <p:cNvSpPr/>
          <p:nvPr/>
        </p:nvSpPr>
        <p:spPr>
          <a:xfrm>
            <a:off x="1417320" y="2724912"/>
            <a:ext cx="4617720" cy="1188720"/>
          </a:xfrm>
          <a:prstGeom prst="rect">
            <a:avLst/>
          </a:prstGeom>
          <a:noFill/>
          <a:ln/>
        </p:spPr>
        <p:txBody>
          <a:bodyPr wrap="square" lIns="0" tIns="0" rIns="0" bIns="0" rtlCol="0" anchor="t"/>
          <a:lstStyle/>
          <a:p>
            <a:pPr indent="0" marL="0">
              <a:buNone/>
            </a:pPr>
            <a:r>
              <a:rPr lang="en-US" sz="1500" dirty="0">
                <a:solidFill>
                  <a:srgbClr val="6E6E70"/>
                </a:solidFill>
                <a:latin typeface="Calibri" pitchFamily="34" charset="0"/>
                <a:ea typeface="Calibri" pitchFamily="34" charset="-122"/>
                <a:cs typeface="Calibri" pitchFamily="34" charset="-120"/>
              </a:rPr>
              <a:t>Storm-surge and weather models that simulate how hurricanes form and move.</a:t>
            </a:r>
            <a:endParaRPr lang="en-US" sz="1500" dirty="0"/>
          </a:p>
        </p:txBody>
      </p:sp>
      <p:sp>
        <p:nvSpPr>
          <p:cNvPr id="8" name="Shape 6"/>
          <p:cNvSpPr/>
          <p:nvPr/>
        </p:nvSpPr>
        <p:spPr>
          <a:xfrm>
            <a:off x="6217920" y="2286000"/>
            <a:ext cx="548640" cy="548640"/>
          </a:xfrm>
          <a:prstGeom prst="ellipse">
            <a:avLst/>
          </a:prstGeom>
          <a:solidFill>
            <a:srgbClr val="840028"/>
          </a:solidFill>
          <a:ln w="12700">
            <a:solidFill>
              <a:srgbClr val="840028"/>
            </a:solidFill>
            <a:prstDash val="solid"/>
          </a:ln>
        </p:spPr>
      </p:sp>
      <p:sp>
        <p:nvSpPr>
          <p:cNvPr id="9" name="Text 7"/>
          <p:cNvSpPr/>
          <p:nvPr/>
        </p:nvSpPr>
        <p:spPr>
          <a:xfrm>
            <a:off x="6217920" y="2286000"/>
            <a:ext cx="548640" cy="548640"/>
          </a:xfrm>
          <a:prstGeom prst="rect">
            <a:avLst/>
          </a:prstGeom>
          <a:noFill/>
          <a:ln/>
        </p:spPr>
        <p:txBody>
          <a:bodyPr wrap="square" lIns="0" tIns="0" rIns="0" bIns="0" rtlCol="0" anchor="ctr"/>
          <a:lstStyle/>
          <a:p>
            <a:pPr algn="ctr" indent="0" marL="0">
              <a:buNone/>
            </a:pPr>
            <a:r>
              <a:rPr lang="en-US" sz="2200" b="1" dirty="0">
                <a:solidFill>
                  <a:srgbClr val="C1A231"/>
                </a:solidFill>
                <a:latin typeface="Arial" pitchFamily="34" charset="0"/>
                <a:ea typeface="Arial" pitchFamily="34" charset="-122"/>
                <a:cs typeface="Arial" pitchFamily="34" charset="-120"/>
              </a:rPr>
              <a:t>2</a:t>
            </a:r>
            <a:endParaRPr lang="en-US" sz="2200" dirty="0"/>
          </a:p>
        </p:txBody>
      </p:sp>
      <p:sp>
        <p:nvSpPr>
          <p:cNvPr id="10" name="Text 8"/>
          <p:cNvSpPr/>
          <p:nvPr/>
        </p:nvSpPr>
        <p:spPr>
          <a:xfrm>
            <a:off x="6995160" y="2240280"/>
            <a:ext cx="4572000" cy="457200"/>
          </a:xfrm>
          <a:prstGeom prst="rect">
            <a:avLst/>
          </a:prstGeom>
          <a:noFill/>
          <a:ln/>
        </p:spPr>
        <p:txBody>
          <a:bodyPr wrap="square" lIns="0" tIns="0" rIns="0" bIns="0" rtlCol="0" anchor="ctr"/>
          <a:lstStyle/>
          <a:p>
            <a:pPr indent="0" marL="0">
              <a:buNone/>
            </a:pPr>
            <a:r>
              <a:rPr lang="en-US" sz="2000" b="1" dirty="0">
                <a:solidFill>
                  <a:srgbClr val="1A1A1A"/>
                </a:solidFill>
                <a:latin typeface="Arial" pitchFamily="34" charset="0"/>
                <a:ea typeface="Arial" pitchFamily="34" charset="-122"/>
                <a:cs typeface="Arial" pitchFamily="34" charset="-120"/>
              </a:rPr>
              <a:t>Fighting disease</a:t>
            </a:r>
            <a:endParaRPr lang="en-US" sz="2000" dirty="0"/>
          </a:p>
        </p:txBody>
      </p:sp>
      <p:sp>
        <p:nvSpPr>
          <p:cNvPr id="11" name="Text 9"/>
          <p:cNvSpPr/>
          <p:nvPr/>
        </p:nvSpPr>
        <p:spPr>
          <a:xfrm>
            <a:off x="6995160" y="2724912"/>
            <a:ext cx="4617720" cy="1188720"/>
          </a:xfrm>
          <a:prstGeom prst="rect">
            <a:avLst/>
          </a:prstGeom>
          <a:noFill/>
          <a:ln/>
        </p:spPr>
        <p:txBody>
          <a:bodyPr wrap="square" lIns="0" tIns="0" rIns="0" bIns="0" rtlCol="0" anchor="t"/>
          <a:lstStyle/>
          <a:p>
            <a:pPr indent="0" marL="0">
              <a:buNone/>
            </a:pPr>
            <a:r>
              <a:rPr lang="en-US" sz="1500" dirty="0">
                <a:solidFill>
                  <a:srgbClr val="6E6E70"/>
                </a:solidFill>
                <a:latin typeface="Calibri" pitchFamily="34" charset="0"/>
                <a:ea typeface="Calibri" pitchFamily="34" charset="-122"/>
                <a:cs typeface="Calibri" pitchFamily="34" charset="-120"/>
              </a:rPr>
              <a:t>Simulating how proteins fold and how drug and vaccine molecules fit together.</a:t>
            </a:r>
            <a:endParaRPr lang="en-US" sz="1500" dirty="0"/>
          </a:p>
        </p:txBody>
      </p:sp>
      <p:sp>
        <p:nvSpPr>
          <p:cNvPr id="12" name="Shape 10"/>
          <p:cNvSpPr/>
          <p:nvPr/>
        </p:nvSpPr>
        <p:spPr>
          <a:xfrm>
            <a:off x="640080" y="4434840"/>
            <a:ext cx="548640" cy="548640"/>
          </a:xfrm>
          <a:prstGeom prst="ellipse">
            <a:avLst/>
          </a:prstGeom>
          <a:solidFill>
            <a:srgbClr val="840028"/>
          </a:solidFill>
          <a:ln w="12700">
            <a:solidFill>
              <a:srgbClr val="840028"/>
            </a:solidFill>
            <a:prstDash val="solid"/>
          </a:ln>
        </p:spPr>
      </p:sp>
      <p:sp>
        <p:nvSpPr>
          <p:cNvPr id="13" name="Text 11"/>
          <p:cNvSpPr/>
          <p:nvPr/>
        </p:nvSpPr>
        <p:spPr>
          <a:xfrm>
            <a:off x="640080" y="4434840"/>
            <a:ext cx="548640" cy="548640"/>
          </a:xfrm>
          <a:prstGeom prst="rect">
            <a:avLst/>
          </a:prstGeom>
          <a:noFill/>
          <a:ln/>
        </p:spPr>
        <p:txBody>
          <a:bodyPr wrap="square" lIns="0" tIns="0" rIns="0" bIns="0" rtlCol="0" anchor="ctr"/>
          <a:lstStyle/>
          <a:p>
            <a:pPr algn="ctr" indent="0" marL="0">
              <a:buNone/>
            </a:pPr>
            <a:r>
              <a:rPr lang="en-US" sz="2200" b="1" dirty="0">
                <a:solidFill>
                  <a:srgbClr val="C1A231"/>
                </a:solidFill>
                <a:latin typeface="Arial" pitchFamily="34" charset="0"/>
                <a:ea typeface="Arial" pitchFamily="34" charset="-122"/>
                <a:cs typeface="Arial" pitchFamily="34" charset="-120"/>
              </a:rPr>
              <a:t>3</a:t>
            </a:r>
            <a:endParaRPr lang="en-US" sz="2200" dirty="0"/>
          </a:p>
        </p:txBody>
      </p:sp>
      <p:sp>
        <p:nvSpPr>
          <p:cNvPr id="14" name="Text 12"/>
          <p:cNvSpPr/>
          <p:nvPr/>
        </p:nvSpPr>
        <p:spPr>
          <a:xfrm>
            <a:off x="1417320" y="4389120"/>
            <a:ext cx="4572000" cy="457200"/>
          </a:xfrm>
          <a:prstGeom prst="rect">
            <a:avLst/>
          </a:prstGeom>
          <a:noFill/>
          <a:ln/>
        </p:spPr>
        <p:txBody>
          <a:bodyPr wrap="square" lIns="0" tIns="0" rIns="0" bIns="0" rtlCol="0" anchor="ctr"/>
          <a:lstStyle/>
          <a:p>
            <a:pPr indent="0" marL="0">
              <a:buNone/>
            </a:pPr>
            <a:r>
              <a:rPr lang="en-US" sz="2000" b="1" dirty="0">
                <a:solidFill>
                  <a:srgbClr val="1A1A1A"/>
                </a:solidFill>
                <a:latin typeface="Arial" pitchFamily="34" charset="0"/>
                <a:ea typeface="Arial" pitchFamily="34" charset="-122"/>
                <a:cs typeface="Arial" pitchFamily="34" charset="-120"/>
              </a:rPr>
              <a:t>Studying black holes</a:t>
            </a:r>
            <a:endParaRPr lang="en-US" sz="2000" dirty="0"/>
          </a:p>
        </p:txBody>
      </p:sp>
      <p:sp>
        <p:nvSpPr>
          <p:cNvPr id="15" name="Text 13"/>
          <p:cNvSpPr/>
          <p:nvPr/>
        </p:nvSpPr>
        <p:spPr>
          <a:xfrm>
            <a:off x="1417320" y="4873752"/>
            <a:ext cx="4617720" cy="1188720"/>
          </a:xfrm>
          <a:prstGeom prst="rect">
            <a:avLst/>
          </a:prstGeom>
          <a:noFill/>
          <a:ln/>
        </p:spPr>
        <p:txBody>
          <a:bodyPr wrap="square" lIns="0" tIns="0" rIns="0" bIns="0" rtlCol="0" anchor="t"/>
          <a:lstStyle/>
          <a:p>
            <a:pPr indent="0" marL="0">
              <a:buNone/>
            </a:pPr>
            <a:r>
              <a:rPr lang="en-US" sz="1500" dirty="0">
                <a:solidFill>
                  <a:srgbClr val="6E6E70"/>
                </a:solidFill>
                <a:latin typeface="Calibri" pitchFamily="34" charset="0"/>
                <a:ea typeface="Calibri" pitchFamily="34" charset="-122"/>
                <a:cs typeface="Calibri" pitchFamily="34" charset="-120"/>
              </a:rPr>
              <a:t>Modeling colliding black holes and the gravitational waves they send across the universe.</a:t>
            </a:r>
            <a:endParaRPr lang="en-US" sz="1500" dirty="0"/>
          </a:p>
        </p:txBody>
      </p:sp>
      <p:sp>
        <p:nvSpPr>
          <p:cNvPr id="16" name="Shape 14"/>
          <p:cNvSpPr/>
          <p:nvPr/>
        </p:nvSpPr>
        <p:spPr>
          <a:xfrm>
            <a:off x="6217920" y="4434840"/>
            <a:ext cx="548640" cy="548640"/>
          </a:xfrm>
          <a:prstGeom prst="ellipse">
            <a:avLst/>
          </a:prstGeom>
          <a:solidFill>
            <a:srgbClr val="840028"/>
          </a:solidFill>
          <a:ln w="12700">
            <a:solidFill>
              <a:srgbClr val="840028"/>
            </a:solidFill>
            <a:prstDash val="solid"/>
          </a:ln>
        </p:spPr>
      </p:sp>
      <p:sp>
        <p:nvSpPr>
          <p:cNvPr id="17" name="Text 15"/>
          <p:cNvSpPr/>
          <p:nvPr/>
        </p:nvSpPr>
        <p:spPr>
          <a:xfrm>
            <a:off x="6217920" y="4434840"/>
            <a:ext cx="548640" cy="548640"/>
          </a:xfrm>
          <a:prstGeom prst="rect">
            <a:avLst/>
          </a:prstGeom>
          <a:noFill/>
          <a:ln/>
        </p:spPr>
        <p:txBody>
          <a:bodyPr wrap="square" lIns="0" tIns="0" rIns="0" bIns="0" rtlCol="0" anchor="ctr"/>
          <a:lstStyle/>
          <a:p>
            <a:pPr algn="ctr" indent="0" marL="0">
              <a:buNone/>
            </a:pPr>
            <a:r>
              <a:rPr lang="en-US" sz="2200" b="1" dirty="0">
                <a:solidFill>
                  <a:srgbClr val="C1A231"/>
                </a:solidFill>
                <a:latin typeface="Arial" pitchFamily="34" charset="0"/>
                <a:ea typeface="Arial" pitchFamily="34" charset="-122"/>
                <a:cs typeface="Arial" pitchFamily="34" charset="-120"/>
              </a:rPr>
              <a:t>4</a:t>
            </a:r>
            <a:endParaRPr lang="en-US" sz="2200" dirty="0"/>
          </a:p>
        </p:txBody>
      </p:sp>
      <p:sp>
        <p:nvSpPr>
          <p:cNvPr id="18" name="Text 16"/>
          <p:cNvSpPr/>
          <p:nvPr/>
        </p:nvSpPr>
        <p:spPr>
          <a:xfrm>
            <a:off x="6995160" y="4389120"/>
            <a:ext cx="4572000" cy="457200"/>
          </a:xfrm>
          <a:prstGeom prst="rect">
            <a:avLst/>
          </a:prstGeom>
          <a:noFill/>
          <a:ln/>
        </p:spPr>
        <p:txBody>
          <a:bodyPr wrap="square" lIns="0" tIns="0" rIns="0" bIns="0" rtlCol="0" anchor="ctr"/>
          <a:lstStyle/>
          <a:p>
            <a:pPr indent="0" marL="0">
              <a:buNone/>
            </a:pPr>
            <a:r>
              <a:rPr lang="en-US" sz="2000" b="1" dirty="0">
                <a:solidFill>
                  <a:srgbClr val="1A1A1A"/>
                </a:solidFill>
                <a:latin typeface="Arial" pitchFamily="34" charset="0"/>
                <a:ea typeface="Arial" pitchFamily="34" charset="-122"/>
                <a:cs typeface="Arial" pitchFamily="34" charset="-120"/>
              </a:rPr>
              <a:t>Mapping the cosmos</a:t>
            </a:r>
            <a:endParaRPr lang="en-US" sz="2000" dirty="0"/>
          </a:p>
        </p:txBody>
      </p:sp>
      <p:sp>
        <p:nvSpPr>
          <p:cNvPr id="19" name="Text 17"/>
          <p:cNvSpPr/>
          <p:nvPr/>
        </p:nvSpPr>
        <p:spPr>
          <a:xfrm>
            <a:off x="6995160" y="4873752"/>
            <a:ext cx="4617720" cy="1188720"/>
          </a:xfrm>
          <a:prstGeom prst="rect">
            <a:avLst/>
          </a:prstGeom>
          <a:noFill/>
          <a:ln/>
        </p:spPr>
        <p:txBody>
          <a:bodyPr wrap="square" lIns="0" tIns="0" rIns="0" bIns="0" rtlCol="0" anchor="t"/>
          <a:lstStyle/>
          <a:p>
            <a:pPr indent="0" marL="0">
              <a:buNone/>
            </a:pPr>
            <a:r>
              <a:rPr lang="en-US" sz="1500" dirty="0">
                <a:solidFill>
                  <a:srgbClr val="6E6E70"/>
                </a:solidFill>
                <a:latin typeface="Calibri" pitchFamily="34" charset="0"/>
                <a:ea typeface="Calibri" pitchFamily="34" charset="-122"/>
                <a:cs typeface="Calibri" pitchFamily="34" charset="-120"/>
              </a:rPr>
              <a:t>Astrophysics simulations of how galaxies and the early universe formed.</a:t>
            </a:r>
            <a:endParaRPr lang="en-US" sz="1500" dirty="0"/>
          </a:p>
        </p:txBody>
      </p:sp>
      <p:sp>
        <p:nvSpPr>
          <p:cNvPr id="20" name="Text 18"/>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48640"/>
            <a:ext cx="5486400" cy="320040"/>
          </a:xfrm>
          <a:prstGeom prst="rect">
            <a:avLst/>
          </a:prstGeom>
          <a:noFill/>
          <a:ln/>
        </p:spPr>
        <p:txBody>
          <a:bodyPr wrap="square" lIns="0" tIns="0" rIns="0" bIns="0" rtlCol="0" anchor="ctr"/>
          <a:lstStyle/>
          <a:p>
            <a:pPr algn="l" indent="0" marL="0">
              <a:buNone/>
            </a:pPr>
            <a:r>
              <a:rPr lang="en-US" sz="1300" b="1" spc="300" kern="0" dirty="0">
                <a:solidFill>
                  <a:srgbClr val="C1A231"/>
                </a:solidFill>
                <a:latin typeface="Arial" pitchFamily="34" charset="0"/>
                <a:ea typeface="Arial" pitchFamily="34" charset="-122"/>
                <a:cs typeface="Arial" pitchFamily="34" charset="-120"/>
              </a:rPr>
              <a:t>THE BIG IDEA</a:t>
            </a:r>
            <a:endParaRPr lang="en-US" sz="1300" dirty="0"/>
          </a:p>
        </p:txBody>
      </p:sp>
      <p:sp>
        <p:nvSpPr>
          <p:cNvPr id="3" name="Text 1"/>
          <p:cNvSpPr/>
          <p:nvPr/>
        </p:nvSpPr>
        <p:spPr>
          <a:xfrm>
            <a:off x="640080" y="868680"/>
            <a:ext cx="10972800" cy="822960"/>
          </a:xfrm>
          <a:prstGeom prst="rect">
            <a:avLst/>
          </a:prstGeom>
          <a:noFill/>
          <a:ln/>
        </p:spPr>
        <p:txBody>
          <a:bodyPr wrap="square" lIns="0" tIns="0" rIns="0" bIns="0" rtlCol="0" anchor="ctr"/>
          <a:lstStyle/>
          <a:p>
            <a:pPr indent="0" marL="0">
              <a:buNone/>
            </a:pPr>
            <a:r>
              <a:rPr lang="en-US" sz="3200" b="1" dirty="0">
                <a:solidFill>
                  <a:srgbClr val="840028"/>
                </a:solidFill>
                <a:latin typeface="Arial" pitchFamily="34" charset="0"/>
                <a:ea typeface="Arial" pitchFamily="34" charset="-122"/>
                <a:cs typeface="Arial" pitchFamily="34" charset="-120"/>
              </a:rPr>
              <a:t>Many workers, at the same time</a:t>
            </a:r>
            <a:endParaRPr lang="en-US" sz="3200" dirty="0"/>
          </a:p>
        </p:txBody>
      </p:sp>
      <p:sp>
        <p:nvSpPr>
          <p:cNvPr id="4" name="Text 2"/>
          <p:cNvSpPr/>
          <p:nvPr/>
        </p:nvSpPr>
        <p:spPr>
          <a:xfrm>
            <a:off x="822960" y="2103120"/>
            <a:ext cx="3200400" cy="365760"/>
          </a:xfrm>
          <a:prstGeom prst="rect">
            <a:avLst/>
          </a:prstGeom>
          <a:noFill/>
          <a:ln/>
        </p:spPr>
        <p:txBody>
          <a:bodyPr wrap="square" lIns="0" tIns="0" rIns="0" bIns="0" rtlCol="0" anchor="ctr"/>
          <a:lstStyle/>
          <a:p>
            <a:pPr algn="ctr" indent="0" marL="0">
              <a:buNone/>
            </a:pPr>
            <a:r>
              <a:rPr lang="en-US" sz="1800" b="1" dirty="0">
                <a:solidFill>
                  <a:srgbClr val="6E6E70"/>
                </a:solidFill>
                <a:latin typeface="Arial" pitchFamily="34" charset="0"/>
                <a:ea typeface="Arial" pitchFamily="34" charset="-122"/>
                <a:cs typeface="Arial" pitchFamily="34" charset="-120"/>
              </a:rPr>
              <a:t>One core</a:t>
            </a:r>
            <a:endParaRPr lang="en-US" sz="1800" dirty="0"/>
          </a:p>
        </p:txBody>
      </p:sp>
      <p:sp>
        <p:nvSpPr>
          <p:cNvPr id="5" name="Shape 3"/>
          <p:cNvSpPr/>
          <p:nvPr/>
        </p:nvSpPr>
        <p:spPr>
          <a:xfrm>
            <a:off x="1828800" y="2651760"/>
            <a:ext cx="1280160" cy="1280160"/>
          </a:xfrm>
          <a:prstGeom prst="ellipse">
            <a:avLst/>
          </a:prstGeom>
          <a:solidFill>
            <a:srgbClr val="6E6E70"/>
          </a:solidFill>
          <a:ln w="12700">
            <a:solidFill>
              <a:srgbClr val="6E6E70"/>
            </a:solidFill>
            <a:prstDash val="solid"/>
          </a:ln>
        </p:spPr>
      </p:sp>
      <p:sp>
        <p:nvSpPr>
          <p:cNvPr id="6" name="Text 4"/>
          <p:cNvSpPr/>
          <p:nvPr/>
        </p:nvSpPr>
        <p:spPr>
          <a:xfrm>
            <a:off x="822960" y="4114800"/>
            <a:ext cx="3291840" cy="82296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does the work</a:t>
            </a:r>
            <a:endParaRPr lang="en-US" sz="1500" dirty="0"/>
          </a:p>
          <a:p>
            <a:pPr algn="ctr" indent="0" marL="0">
              <a:buNone/>
            </a:pPr>
            <a:r>
              <a:rPr lang="en-US" sz="1500" dirty="0">
                <a:solidFill>
                  <a:srgbClr val="1A1A1A"/>
                </a:solidFill>
                <a:latin typeface="Calibri" pitchFamily="34" charset="0"/>
                <a:ea typeface="Calibri" pitchFamily="34" charset="-122"/>
                <a:cs typeface="Calibri" pitchFamily="34" charset="-120"/>
              </a:rPr>
              <a:t>one piece at a time</a:t>
            </a:r>
            <a:endParaRPr lang="en-US" sz="1500" dirty="0"/>
          </a:p>
        </p:txBody>
      </p:sp>
      <p:sp>
        <p:nvSpPr>
          <p:cNvPr id="7" name="Text 5"/>
          <p:cNvSpPr/>
          <p:nvPr/>
        </p:nvSpPr>
        <p:spPr>
          <a:xfrm>
            <a:off x="4297680" y="2926080"/>
            <a:ext cx="914400" cy="731520"/>
          </a:xfrm>
          <a:prstGeom prst="rect">
            <a:avLst/>
          </a:prstGeom>
          <a:noFill/>
          <a:ln/>
        </p:spPr>
        <p:txBody>
          <a:bodyPr wrap="square" lIns="0" tIns="0" rIns="0" bIns="0" rtlCol="0" anchor="ctr"/>
          <a:lstStyle/>
          <a:p>
            <a:pPr algn="ctr" indent="0" marL="0">
              <a:buNone/>
            </a:pPr>
            <a:r>
              <a:rPr lang="en-US" sz="2400" b="1" dirty="0">
                <a:solidFill>
                  <a:srgbClr val="C1A231"/>
                </a:solidFill>
                <a:latin typeface="Arial" pitchFamily="34" charset="0"/>
                <a:ea typeface="Arial" pitchFamily="34" charset="-122"/>
                <a:cs typeface="Arial" pitchFamily="34" charset="-120"/>
              </a:rPr>
              <a:t>vs</a:t>
            </a:r>
            <a:endParaRPr lang="en-US" sz="2400" dirty="0"/>
          </a:p>
        </p:txBody>
      </p:sp>
      <p:sp>
        <p:nvSpPr>
          <p:cNvPr id="8" name="Text 6"/>
          <p:cNvSpPr/>
          <p:nvPr/>
        </p:nvSpPr>
        <p:spPr>
          <a:xfrm>
            <a:off x="5495544" y="2103120"/>
            <a:ext cx="3931920" cy="365760"/>
          </a:xfrm>
          <a:prstGeom prst="rect">
            <a:avLst/>
          </a:prstGeom>
          <a:noFill/>
          <a:ln/>
        </p:spPr>
        <p:txBody>
          <a:bodyPr wrap="square" lIns="0" tIns="0" rIns="0" bIns="0" rtlCol="0" anchor="ctr"/>
          <a:lstStyle/>
          <a:p>
            <a:pPr algn="ctr" indent="0" marL="0">
              <a:buNone/>
            </a:pPr>
            <a:r>
              <a:rPr lang="en-US" sz="1800" b="1" dirty="0">
                <a:solidFill>
                  <a:srgbClr val="840028"/>
                </a:solidFill>
                <a:latin typeface="Arial" pitchFamily="34" charset="0"/>
                <a:ea typeface="Arial" pitchFamily="34" charset="-122"/>
                <a:cs typeface="Arial" pitchFamily="34" charset="-120"/>
              </a:rPr>
              <a:t>Many cores</a:t>
            </a:r>
            <a:endParaRPr lang="en-US" sz="1800" dirty="0"/>
          </a:p>
        </p:txBody>
      </p:sp>
      <p:sp>
        <p:nvSpPr>
          <p:cNvPr id="9" name="Shape 7"/>
          <p:cNvSpPr/>
          <p:nvPr/>
        </p:nvSpPr>
        <p:spPr>
          <a:xfrm>
            <a:off x="5943600" y="2651760"/>
            <a:ext cx="384048" cy="384048"/>
          </a:xfrm>
          <a:prstGeom prst="ellipse">
            <a:avLst/>
          </a:prstGeom>
          <a:solidFill>
            <a:srgbClr val="840028"/>
          </a:solidFill>
          <a:ln w="12700">
            <a:solidFill>
              <a:srgbClr val="840028"/>
            </a:solidFill>
            <a:prstDash val="solid"/>
          </a:ln>
        </p:spPr>
      </p:sp>
      <p:sp>
        <p:nvSpPr>
          <p:cNvPr id="10" name="Shape 8"/>
          <p:cNvSpPr/>
          <p:nvPr/>
        </p:nvSpPr>
        <p:spPr>
          <a:xfrm>
            <a:off x="6473952" y="2651760"/>
            <a:ext cx="384048" cy="384048"/>
          </a:xfrm>
          <a:prstGeom prst="ellipse">
            <a:avLst/>
          </a:prstGeom>
          <a:solidFill>
            <a:srgbClr val="840028"/>
          </a:solidFill>
          <a:ln w="12700">
            <a:solidFill>
              <a:srgbClr val="840028"/>
            </a:solidFill>
            <a:prstDash val="solid"/>
          </a:ln>
        </p:spPr>
      </p:sp>
      <p:sp>
        <p:nvSpPr>
          <p:cNvPr id="11" name="Shape 9"/>
          <p:cNvSpPr/>
          <p:nvPr/>
        </p:nvSpPr>
        <p:spPr>
          <a:xfrm>
            <a:off x="7004304" y="2651760"/>
            <a:ext cx="384048" cy="384048"/>
          </a:xfrm>
          <a:prstGeom prst="ellipse">
            <a:avLst/>
          </a:prstGeom>
          <a:solidFill>
            <a:srgbClr val="840028"/>
          </a:solidFill>
          <a:ln w="12700">
            <a:solidFill>
              <a:srgbClr val="840028"/>
            </a:solidFill>
            <a:prstDash val="solid"/>
          </a:ln>
        </p:spPr>
      </p:sp>
      <p:sp>
        <p:nvSpPr>
          <p:cNvPr id="12" name="Shape 10"/>
          <p:cNvSpPr/>
          <p:nvPr/>
        </p:nvSpPr>
        <p:spPr>
          <a:xfrm>
            <a:off x="7534656" y="2651760"/>
            <a:ext cx="384048" cy="384048"/>
          </a:xfrm>
          <a:prstGeom prst="ellipse">
            <a:avLst/>
          </a:prstGeom>
          <a:solidFill>
            <a:srgbClr val="840028"/>
          </a:solidFill>
          <a:ln w="12700">
            <a:solidFill>
              <a:srgbClr val="840028"/>
            </a:solidFill>
            <a:prstDash val="solid"/>
          </a:ln>
        </p:spPr>
      </p:sp>
      <p:sp>
        <p:nvSpPr>
          <p:cNvPr id="13" name="Shape 11"/>
          <p:cNvSpPr/>
          <p:nvPr/>
        </p:nvSpPr>
        <p:spPr>
          <a:xfrm>
            <a:off x="8065008" y="2651760"/>
            <a:ext cx="384048" cy="384048"/>
          </a:xfrm>
          <a:prstGeom prst="ellipse">
            <a:avLst/>
          </a:prstGeom>
          <a:solidFill>
            <a:srgbClr val="840028"/>
          </a:solidFill>
          <a:ln w="12700">
            <a:solidFill>
              <a:srgbClr val="840028"/>
            </a:solidFill>
            <a:prstDash val="solid"/>
          </a:ln>
        </p:spPr>
      </p:sp>
      <p:sp>
        <p:nvSpPr>
          <p:cNvPr id="14" name="Shape 12"/>
          <p:cNvSpPr/>
          <p:nvPr/>
        </p:nvSpPr>
        <p:spPr>
          <a:xfrm>
            <a:off x="8595360" y="2651760"/>
            <a:ext cx="384048" cy="384048"/>
          </a:xfrm>
          <a:prstGeom prst="ellipse">
            <a:avLst/>
          </a:prstGeom>
          <a:solidFill>
            <a:srgbClr val="840028"/>
          </a:solidFill>
          <a:ln w="12700">
            <a:solidFill>
              <a:srgbClr val="840028"/>
            </a:solidFill>
            <a:prstDash val="solid"/>
          </a:ln>
        </p:spPr>
      </p:sp>
      <p:sp>
        <p:nvSpPr>
          <p:cNvPr id="15" name="Shape 13"/>
          <p:cNvSpPr/>
          <p:nvPr/>
        </p:nvSpPr>
        <p:spPr>
          <a:xfrm>
            <a:off x="5943600" y="3182112"/>
            <a:ext cx="384048" cy="384048"/>
          </a:xfrm>
          <a:prstGeom prst="ellipse">
            <a:avLst/>
          </a:prstGeom>
          <a:solidFill>
            <a:srgbClr val="840028"/>
          </a:solidFill>
          <a:ln w="12700">
            <a:solidFill>
              <a:srgbClr val="840028"/>
            </a:solidFill>
            <a:prstDash val="solid"/>
          </a:ln>
        </p:spPr>
      </p:sp>
      <p:sp>
        <p:nvSpPr>
          <p:cNvPr id="16" name="Shape 14"/>
          <p:cNvSpPr/>
          <p:nvPr/>
        </p:nvSpPr>
        <p:spPr>
          <a:xfrm>
            <a:off x="6473952" y="3182112"/>
            <a:ext cx="384048" cy="384048"/>
          </a:xfrm>
          <a:prstGeom prst="ellipse">
            <a:avLst/>
          </a:prstGeom>
          <a:solidFill>
            <a:srgbClr val="840028"/>
          </a:solidFill>
          <a:ln w="12700">
            <a:solidFill>
              <a:srgbClr val="840028"/>
            </a:solidFill>
            <a:prstDash val="solid"/>
          </a:ln>
        </p:spPr>
      </p:sp>
      <p:sp>
        <p:nvSpPr>
          <p:cNvPr id="17" name="Shape 15"/>
          <p:cNvSpPr/>
          <p:nvPr/>
        </p:nvSpPr>
        <p:spPr>
          <a:xfrm>
            <a:off x="7004304" y="3182112"/>
            <a:ext cx="384048" cy="384048"/>
          </a:xfrm>
          <a:prstGeom prst="ellipse">
            <a:avLst/>
          </a:prstGeom>
          <a:solidFill>
            <a:srgbClr val="840028"/>
          </a:solidFill>
          <a:ln w="12700">
            <a:solidFill>
              <a:srgbClr val="840028"/>
            </a:solidFill>
            <a:prstDash val="solid"/>
          </a:ln>
        </p:spPr>
      </p:sp>
      <p:sp>
        <p:nvSpPr>
          <p:cNvPr id="18" name="Shape 16"/>
          <p:cNvSpPr/>
          <p:nvPr/>
        </p:nvSpPr>
        <p:spPr>
          <a:xfrm>
            <a:off x="7534656" y="3182112"/>
            <a:ext cx="384048" cy="384048"/>
          </a:xfrm>
          <a:prstGeom prst="ellipse">
            <a:avLst/>
          </a:prstGeom>
          <a:solidFill>
            <a:srgbClr val="840028"/>
          </a:solidFill>
          <a:ln w="12700">
            <a:solidFill>
              <a:srgbClr val="840028"/>
            </a:solidFill>
            <a:prstDash val="solid"/>
          </a:ln>
        </p:spPr>
      </p:sp>
      <p:sp>
        <p:nvSpPr>
          <p:cNvPr id="19" name="Shape 17"/>
          <p:cNvSpPr/>
          <p:nvPr/>
        </p:nvSpPr>
        <p:spPr>
          <a:xfrm>
            <a:off x="8065008" y="3182112"/>
            <a:ext cx="384048" cy="384048"/>
          </a:xfrm>
          <a:prstGeom prst="ellipse">
            <a:avLst/>
          </a:prstGeom>
          <a:solidFill>
            <a:srgbClr val="840028"/>
          </a:solidFill>
          <a:ln w="12700">
            <a:solidFill>
              <a:srgbClr val="840028"/>
            </a:solidFill>
            <a:prstDash val="solid"/>
          </a:ln>
        </p:spPr>
      </p:sp>
      <p:sp>
        <p:nvSpPr>
          <p:cNvPr id="20" name="Shape 18"/>
          <p:cNvSpPr/>
          <p:nvPr/>
        </p:nvSpPr>
        <p:spPr>
          <a:xfrm>
            <a:off x="8595360" y="3182112"/>
            <a:ext cx="384048" cy="384048"/>
          </a:xfrm>
          <a:prstGeom prst="ellipse">
            <a:avLst/>
          </a:prstGeom>
          <a:solidFill>
            <a:srgbClr val="840028"/>
          </a:solidFill>
          <a:ln w="12700">
            <a:solidFill>
              <a:srgbClr val="840028"/>
            </a:solidFill>
            <a:prstDash val="solid"/>
          </a:ln>
        </p:spPr>
      </p:sp>
      <p:sp>
        <p:nvSpPr>
          <p:cNvPr id="21" name="Shape 19"/>
          <p:cNvSpPr/>
          <p:nvPr/>
        </p:nvSpPr>
        <p:spPr>
          <a:xfrm>
            <a:off x="5943600" y="3712464"/>
            <a:ext cx="384048" cy="384048"/>
          </a:xfrm>
          <a:prstGeom prst="ellipse">
            <a:avLst/>
          </a:prstGeom>
          <a:solidFill>
            <a:srgbClr val="840028"/>
          </a:solidFill>
          <a:ln w="12700">
            <a:solidFill>
              <a:srgbClr val="840028"/>
            </a:solidFill>
            <a:prstDash val="solid"/>
          </a:ln>
        </p:spPr>
      </p:sp>
      <p:sp>
        <p:nvSpPr>
          <p:cNvPr id="22" name="Shape 20"/>
          <p:cNvSpPr/>
          <p:nvPr/>
        </p:nvSpPr>
        <p:spPr>
          <a:xfrm>
            <a:off x="6473952" y="3712464"/>
            <a:ext cx="384048" cy="384048"/>
          </a:xfrm>
          <a:prstGeom prst="ellipse">
            <a:avLst/>
          </a:prstGeom>
          <a:solidFill>
            <a:srgbClr val="840028"/>
          </a:solidFill>
          <a:ln w="12700">
            <a:solidFill>
              <a:srgbClr val="840028"/>
            </a:solidFill>
            <a:prstDash val="solid"/>
          </a:ln>
        </p:spPr>
      </p:sp>
      <p:sp>
        <p:nvSpPr>
          <p:cNvPr id="23" name="Shape 21"/>
          <p:cNvSpPr/>
          <p:nvPr/>
        </p:nvSpPr>
        <p:spPr>
          <a:xfrm>
            <a:off x="7004304" y="3712464"/>
            <a:ext cx="384048" cy="384048"/>
          </a:xfrm>
          <a:prstGeom prst="ellipse">
            <a:avLst/>
          </a:prstGeom>
          <a:solidFill>
            <a:srgbClr val="840028"/>
          </a:solidFill>
          <a:ln w="12700">
            <a:solidFill>
              <a:srgbClr val="840028"/>
            </a:solidFill>
            <a:prstDash val="solid"/>
          </a:ln>
        </p:spPr>
      </p:sp>
      <p:sp>
        <p:nvSpPr>
          <p:cNvPr id="24" name="Shape 22"/>
          <p:cNvSpPr/>
          <p:nvPr/>
        </p:nvSpPr>
        <p:spPr>
          <a:xfrm>
            <a:off x="7534656" y="3712464"/>
            <a:ext cx="384048" cy="384048"/>
          </a:xfrm>
          <a:prstGeom prst="ellipse">
            <a:avLst/>
          </a:prstGeom>
          <a:solidFill>
            <a:srgbClr val="840028"/>
          </a:solidFill>
          <a:ln w="12700">
            <a:solidFill>
              <a:srgbClr val="840028"/>
            </a:solidFill>
            <a:prstDash val="solid"/>
          </a:ln>
        </p:spPr>
      </p:sp>
      <p:sp>
        <p:nvSpPr>
          <p:cNvPr id="25" name="Shape 23"/>
          <p:cNvSpPr/>
          <p:nvPr/>
        </p:nvSpPr>
        <p:spPr>
          <a:xfrm>
            <a:off x="8065008" y="3712464"/>
            <a:ext cx="384048" cy="384048"/>
          </a:xfrm>
          <a:prstGeom prst="ellipse">
            <a:avLst/>
          </a:prstGeom>
          <a:solidFill>
            <a:srgbClr val="840028"/>
          </a:solidFill>
          <a:ln w="12700">
            <a:solidFill>
              <a:srgbClr val="840028"/>
            </a:solidFill>
            <a:prstDash val="solid"/>
          </a:ln>
        </p:spPr>
      </p:sp>
      <p:sp>
        <p:nvSpPr>
          <p:cNvPr id="26" name="Shape 24"/>
          <p:cNvSpPr/>
          <p:nvPr/>
        </p:nvSpPr>
        <p:spPr>
          <a:xfrm>
            <a:off x="8595360" y="3712464"/>
            <a:ext cx="384048" cy="384048"/>
          </a:xfrm>
          <a:prstGeom prst="ellipse">
            <a:avLst/>
          </a:prstGeom>
          <a:solidFill>
            <a:srgbClr val="840028"/>
          </a:solidFill>
          <a:ln w="12700">
            <a:solidFill>
              <a:srgbClr val="840028"/>
            </a:solidFill>
            <a:prstDash val="solid"/>
          </a:ln>
        </p:spPr>
      </p:sp>
      <p:sp>
        <p:nvSpPr>
          <p:cNvPr id="27" name="Shape 25"/>
          <p:cNvSpPr/>
          <p:nvPr/>
        </p:nvSpPr>
        <p:spPr>
          <a:xfrm>
            <a:off x="5943600" y="4242816"/>
            <a:ext cx="384048" cy="384048"/>
          </a:xfrm>
          <a:prstGeom prst="ellipse">
            <a:avLst/>
          </a:prstGeom>
          <a:solidFill>
            <a:srgbClr val="840028"/>
          </a:solidFill>
          <a:ln w="12700">
            <a:solidFill>
              <a:srgbClr val="840028"/>
            </a:solidFill>
            <a:prstDash val="solid"/>
          </a:ln>
        </p:spPr>
      </p:sp>
      <p:sp>
        <p:nvSpPr>
          <p:cNvPr id="28" name="Shape 26"/>
          <p:cNvSpPr/>
          <p:nvPr/>
        </p:nvSpPr>
        <p:spPr>
          <a:xfrm>
            <a:off x="6473952" y="4242816"/>
            <a:ext cx="384048" cy="384048"/>
          </a:xfrm>
          <a:prstGeom prst="ellipse">
            <a:avLst/>
          </a:prstGeom>
          <a:solidFill>
            <a:srgbClr val="840028"/>
          </a:solidFill>
          <a:ln w="12700">
            <a:solidFill>
              <a:srgbClr val="840028"/>
            </a:solidFill>
            <a:prstDash val="solid"/>
          </a:ln>
        </p:spPr>
      </p:sp>
      <p:sp>
        <p:nvSpPr>
          <p:cNvPr id="29" name="Shape 27"/>
          <p:cNvSpPr/>
          <p:nvPr/>
        </p:nvSpPr>
        <p:spPr>
          <a:xfrm>
            <a:off x="7004304" y="4242816"/>
            <a:ext cx="384048" cy="384048"/>
          </a:xfrm>
          <a:prstGeom prst="ellipse">
            <a:avLst/>
          </a:prstGeom>
          <a:solidFill>
            <a:srgbClr val="840028"/>
          </a:solidFill>
          <a:ln w="12700">
            <a:solidFill>
              <a:srgbClr val="840028"/>
            </a:solidFill>
            <a:prstDash val="solid"/>
          </a:ln>
        </p:spPr>
      </p:sp>
      <p:sp>
        <p:nvSpPr>
          <p:cNvPr id="30" name="Shape 28"/>
          <p:cNvSpPr/>
          <p:nvPr/>
        </p:nvSpPr>
        <p:spPr>
          <a:xfrm>
            <a:off x="7534656" y="4242816"/>
            <a:ext cx="384048" cy="384048"/>
          </a:xfrm>
          <a:prstGeom prst="ellipse">
            <a:avLst/>
          </a:prstGeom>
          <a:solidFill>
            <a:srgbClr val="840028"/>
          </a:solidFill>
          <a:ln w="12700">
            <a:solidFill>
              <a:srgbClr val="840028"/>
            </a:solidFill>
            <a:prstDash val="solid"/>
          </a:ln>
        </p:spPr>
      </p:sp>
      <p:sp>
        <p:nvSpPr>
          <p:cNvPr id="31" name="Shape 29"/>
          <p:cNvSpPr/>
          <p:nvPr/>
        </p:nvSpPr>
        <p:spPr>
          <a:xfrm>
            <a:off x="8065008" y="4242816"/>
            <a:ext cx="384048" cy="384048"/>
          </a:xfrm>
          <a:prstGeom prst="ellipse">
            <a:avLst/>
          </a:prstGeom>
          <a:solidFill>
            <a:srgbClr val="840028"/>
          </a:solidFill>
          <a:ln w="12700">
            <a:solidFill>
              <a:srgbClr val="840028"/>
            </a:solidFill>
            <a:prstDash val="solid"/>
          </a:ln>
        </p:spPr>
      </p:sp>
      <p:sp>
        <p:nvSpPr>
          <p:cNvPr id="32" name="Shape 30"/>
          <p:cNvSpPr/>
          <p:nvPr/>
        </p:nvSpPr>
        <p:spPr>
          <a:xfrm>
            <a:off x="8595360" y="4242816"/>
            <a:ext cx="384048" cy="384048"/>
          </a:xfrm>
          <a:prstGeom prst="ellipse">
            <a:avLst/>
          </a:prstGeom>
          <a:solidFill>
            <a:srgbClr val="840028"/>
          </a:solidFill>
          <a:ln w="12700">
            <a:solidFill>
              <a:srgbClr val="840028"/>
            </a:solidFill>
            <a:prstDash val="solid"/>
          </a:ln>
        </p:spPr>
      </p:sp>
      <p:sp>
        <p:nvSpPr>
          <p:cNvPr id="33" name="Text 31"/>
          <p:cNvSpPr/>
          <p:nvPr/>
        </p:nvSpPr>
        <p:spPr>
          <a:xfrm>
            <a:off x="5495544" y="4800600"/>
            <a:ext cx="3931920" cy="54864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split the work and finish together, far faster</a:t>
            </a:r>
            <a:endParaRPr lang="en-US" sz="1500" dirty="0"/>
          </a:p>
        </p:txBody>
      </p:sp>
      <p:sp>
        <p:nvSpPr>
          <p:cNvPr id="34" name="Text 32"/>
          <p:cNvSpPr/>
          <p:nvPr/>
        </p:nvSpPr>
        <p:spPr>
          <a:xfrm>
            <a:off x="640080" y="5806440"/>
            <a:ext cx="10972800" cy="548640"/>
          </a:xfrm>
          <a:prstGeom prst="rect">
            <a:avLst/>
          </a:prstGeom>
          <a:noFill/>
          <a:ln/>
        </p:spPr>
        <p:txBody>
          <a:bodyPr wrap="square" lIns="0" tIns="0" rIns="0" bIns="0" rtlCol="0" anchor="ctr"/>
          <a:lstStyle/>
          <a:p>
            <a:pPr indent="0" marL="0">
              <a:buNone/>
            </a:pPr>
            <a:r>
              <a:rPr lang="en-US" sz="1700" i="1" dirty="0">
                <a:solidFill>
                  <a:srgbClr val="6E6E70"/>
                </a:solidFill>
                <a:latin typeface="Calibri" pitchFamily="34" charset="0"/>
                <a:ea typeface="Calibri" pitchFamily="34" charset="-122"/>
                <a:cs typeface="Calibri" pitchFamily="34" charset="-120"/>
              </a:rPr>
              <a:t>That's high-performance computing (HPC). You'll feel the speed difference yourself in a few minutes.</a:t>
            </a:r>
            <a:endParaRPr lang="en-US" sz="1700" dirty="0"/>
          </a:p>
        </p:txBody>
      </p:sp>
      <p:sp>
        <p:nvSpPr>
          <p:cNvPr id="35" name="Text 33"/>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48640"/>
            <a:ext cx="5486400" cy="320040"/>
          </a:xfrm>
          <a:prstGeom prst="rect">
            <a:avLst/>
          </a:prstGeom>
          <a:noFill/>
          <a:ln/>
        </p:spPr>
        <p:txBody>
          <a:bodyPr wrap="square" lIns="0" tIns="0" rIns="0" bIns="0" rtlCol="0" anchor="ctr"/>
          <a:lstStyle/>
          <a:p>
            <a:pPr algn="l" indent="0" marL="0">
              <a:buNone/>
            </a:pPr>
            <a:r>
              <a:rPr lang="en-US" sz="1300" b="1" spc="300" kern="0" dirty="0">
                <a:solidFill>
                  <a:srgbClr val="C1A231"/>
                </a:solidFill>
                <a:latin typeface="Arial" pitchFamily="34" charset="0"/>
                <a:ea typeface="Arial" pitchFamily="34" charset="-122"/>
                <a:cs typeface="Arial" pitchFamily="34" charset="-120"/>
              </a:rPr>
              <a:t>THE LANGUAGE</a:t>
            </a:r>
            <a:endParaRPr lang="en-US" sz="1300" dirty="0"/>
          </a:p>
        </p:txBody>
      </p:sp>
      <p:sp>
        <p:nvSpPr>
          <p:cNvPr id="3" name="Text 1"/>
          <p:cNvSpPr/>
          <p:nvPr/>
        </p:nvSpPr>
        <p:spPr>
          <a:xfrm>
            <a:off x="640080" y="868680"/>
            <a:ext cx="10972800" cy="822960"/>
          </a:xfrm>
          <a:prstGeom prst="rect">
            <a:avLst/>
          </a:prstGeom>
          <a:noFill/>
          <a:ln/>
        </p:spPr>
        <p:txBody>
          <a:bodyPr wrap="square" lIns="0" tIns="0" rIns="0" bIns="0" rtlCol="0" anchor="ctr"/>
          <a:lstStyle/>
          <a:p>
            <a:pPr indent="0" marL="0">
              <a:buNone/>
            </a:pPr>
            <a:r>
              <a:rPr lang="en-US" sz="3200" b="1" dirty="0">
                <a:solidFill>
                  <a:srgbClr val="840028"/>
                </a:solidFill>
                <a:latin typeface="Arial" pitchFamily="34" charset="0"/>
                <a:ea typeface="Arial" pitchFamily="34" charset="-122"/>
                <a:cs typeface="Arial" pitchFamily="34" charset="-120"/>
              </a:rPr>
              <a:t>Why Python?</a:t>
            </a:r>
            <a:endParaRPr lang="en-US" sz="3200" dirty="0"/>
          </a:p>
        </p:txBody>
      </p:sp>
      <p:sp>
        <p:nvSpPr>
          <p:cNvPr id="4" name="Shape 2"/>
          <p:cNvSpPr/>
          <p:nvPr/>
        </p:nvSpPr>
        <p:spPr>
          <a:xfrm>
            <a:off x="640080" y="2286000"/>
            <a:ext cx="3383280" cy="2331720"/>
          </a:xfrm>
          <a:prstGeom prst="rect">
            <a:avLst/>
          </a:prstGeom>
          <a:solidFill>
            <a:srgbClr val="840028"/>
          </a:solidFill>
          <a:ln w="12700">
            <a:solidFill>
              <a:srgbClr val="840028"/>
            </a:solidFill>
            <a:prstDash val="solid"/>
          </a:ln>
        </p:spPr>
      </p:sp>
      <p:sp>
        <p:nvSpPr>
          <p:cNvPr id="5" name="Text 3"/>
          <p:cNvSpPr/>
          <p:nvPr/>
        </p:nvSpPr>
        <p:spPr>
          <a:xfrm>
            <a:off x="914400" y="2514600"/>
            <a:ext cx="2834640" cy="868680"/>
          </a:xfrm>
          <a:prstGeom prst="rect">
            <a:avLst/>
          </a:prstGeom>
          <a:noFill/>
          <a:ln/>
        </p:spPr>
        <p:txBody>
          <a:bodyPr wrap="square" lIns="0" tIns="0" rIns="0" bIns="0" rtlCol="0" anchor="b"/>
          <a:lstStyle/>
          <a:p>
            <a:pPr indent="0" marL="0">
              <a:buNone/>
            </a:pPr>
            <a:r>
              <a:rPr lang="en-US" sz="2200" b="1" dirty="0">
                <a:solidFill>
                  <a:srgbClr val="C1A231"/>
                </a:solidFill>
                <a:latin typeface="Arial" pitchFamily="34" charset="0"/>
                <a:ea typeface="Arial" pitchFamily="34" charset="-122"/>
                <a:cs typeface="Arial" pitchFamily="34" charset="-120"/>
              </a:rPr>
              <a:t>Readable</a:t>
            </a:r>
            <a:endParaRPr lang="en-US" sz="2200" dirty="0"/>
          </a:p>
        </p:txBody>
      </p:sp>
      <p:sp>
        <p:nvSpPr>
          <p:cNvPr id="6" name="Text 4"/>
          <p:cNvSpPr/>
          <p:nvPr/>
        </p:nvSpPr>
        <p:spPr>
          <a:xfrm>
            <a:off x="914400" y="3474720"/>
            <a:ext cx="2834640" cy="100584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It looks almost like plain English, so you can learn it fast.</a:t>
            </a:r>
            <a:endParaRPr lang="en-US" sz="1600" dirty="0"/>
          </a:p>
        </p:txBody>
      </p:sp>
      <p:sp>
        <p:nvSpPr>
          <p:cNvPr id="7" name="Shape 5"/>
          <p:cNvSpPr/>
          <p:nvPr/>
        </p:nvSpPr>
        <p:spPr>
          <a:xfrm>
            <a:off x="4343400" y="2286000"/>
            <a:ext cx="3383280" cy="2331720"/>
          </a:xfrm>
          <a:prstGeom prst="rect">
            <a:avLst/>
          </a:prstGeom>
          <a:solidFill>
            <a:srgbClr val="840028"/>
          </a:solidFill>
          <a:ln w="12700">
            <a:solidFill>
              <a:srgbClr val="840028"/>
            </a:solidFill>
            <a:prstDash val="solid"/>
          </a:ln>
        </p:spPr>
      </p:sp>
      <p:sp>
        <p:nvSpPr>
          <p:cNvPr id="8" name="Text 6"/>
          <p:cNvSpPr/>
          <p:nvPr/>
        </p:nvSpPr>
        <p:spPr>
          <a:xfrm>
            <a:off x="4617720" y="2514600"/>
            <a:ext cx="2834640" cy="868680"/>
          </a:xfrm>
          <a:prstGeom prst="rect">
            <a:avLst/>
          </a:prstGeom>
          <a:noFill/>
          <a:ln/>
        </p:spPr>
        <p:txBody>
          <a:bodyPr wrap="square" lIns="0" tIns="0" rIns="0" bIns="0" rtlCol="0" anchor="b"/>
          <a:lstStyle/>
          <a:p>
            <a:pPr indent="0" marL="0">
              <a:buNone/>
            </a:pPr>
            <a:r>
              <a:rPr lang="en-US" sz="2200" b="1" dirty="0">
                <a:solidFill>
                  <a:srgbClr val="C1A231"/>
                </a:solidFill>
                <a:latin typeface="Arial" pitchFamily="34" charset="0"/>
                <a:ea typeface="Arial" pitchFamily="34" charset="-122"/>
                <a:cs typeface="Arial" pitchFamily="34" charset="-120"/>
              </a:rPr>
              <a:t>Everywhere in science</a:t>
            </a:r>
            <a:endParaRPr lang="en-US" sz="2200" dirty="0"/>
          </a:p>
        </p:txBody>
      </p:sp>
      <p:sp>
        <p:nvSpPr>
          <p:cNvPr id="9" name="Text 7"/>
          <p:cNvSpPr/>
          <p:nvPr/>
        </p:nvSpPr>
        <p:spPr>
          <a:xfrm>
            <a:off x="4617720" y="3474720"/>
            <a:ext cx="2834640" cy="100584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The default language for data, AI, biology, physics, and more.</a:t>
            </a:r>
            <a:endParaRPr lang="en-US" sz="1600" dirty="0"/>
          </a:p>
        </p:txBody>
      </p:sp>
      <p:sp>
        <p:nvSpPr>
          <p:cNvPr id="10" name="Shape 8"/>
          <p:cNvSpPr/>
          <p:nvPr/>
        </p:nvSpPr>
        <p:spPr>
          <a:xfrm>
            <a:off x="8046720" y="2286000"/>
            <a:ext cx="3383280" cy="2331720"/>
          </a:xfrm>
          <a:prstGeom prst="rect">
            <a:avLst/>
          </a:prstGeom>
          <a:solidFill>
            <a:srgbClr val="840028"/>
          </a:solidFill>
          <a:ln w="12700">
            <a:solidFill>
              <a:srgbClr val="840028"/>
            </a:solidFill>
            <a:prstDash val="solid"/>
          </a:ln>
        </p:spPr>
      </p:sp>
      <p:sp>
        <p:nvSpPr>
          <p:cNvPr id="11" name="Text 9"/>
          <p:cNvSpPr/>
          <p:nvPr/>
        </p:nvSpPr>
        <p:spPr>
          <a:xfrm>
            <a:off x="8321040" y="2514600"/>
            <a:ext cx="2834640" cy="868680"/>
          </a:xfrm>
          <a:prstGeom prst="rect">
            <a:avLst/>
          </a:prstGeom>
          <a:noFill/>
          <a:ln/>
        </p:spPr>
        <p:txBody>
          <a:bodyPr wrap="square" lIns="0" tIns="0" rIns="0" bIns="0" rtlCol="0" anchor="b"/>
          <a:lstStyle/>
          <a:p>
            <a:pPr indent="0" marL="0">
              <a:buNone/>
            </a:pPr>
            <a:r>
              <a:rPr lang="en-US" sz="2200" b="1" dirty="0">
                <a:solidFill>
                  <a:srgbClr val="C1A231"/>
                </a:solidFill>
                <a:latin typeface="Arial" pitchFamily="34" charset="0"/>
                <a:ea typeface="Arial" pitchFamily="34" charset="-122"/>
                <a:cs typeface="Arial" pitchFamily="34" charset="-120"/>
              </a:rPr>
              <a:t>Powerful</a:t>
            </a:r>
            <a:endParaRPr lang="en-US" sz="2200" dirty="0"/>
          </a:p>
        </p:txBody>
      </p:sp>
      <p:sp>
        <p:nvSpPr>
          <p:cNvPr id="12" name="Text 10"/>
          <p:cNvSpPr/>
          <p:nvPr/>
        </p:nvSpPr>
        <p:spPr>
          <a:xfrm>
            <a:off x="8321040" y="3474720"/>
            <a:ext cx="2834640" cy="100584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The same language runs on your laptop and on Frontera.</a:t>
            </a:r>
            <a:endParaRPr lang="en-US" sz="1600" dirty="0"/>
          </a:p>
        </p:txBody>
      </p:sp>
      <p:sp>
        <p:nvSpPr>
          <p:cNvPr id="13" name="Text 11"/>
          <p:cNvSpPr/>
          <p:nvPr/>
        </p:nvSpPr>
        <p:spPr>
          <a:xfrm>
            <a:off x="640080" y="5257800"/>
            <a:ext cx="10972800" cy="640080"/>
          </a:xfrm>
          <a:prstGeom prst="rect">
            <a:avLst/>
          </a:prstGeom>
          <a:noFill/>
          <a:ln/>
        </p:spPr>
        <p:txBody>
          <a:bodyPr wrap="square" lIns="0" tIns="0" rIns="0" bIns="0" rtlCol="0" anchor="ctr"/>
          <a:lstStyle/>
          <a:p>
            <a:pPr algn="ctr" indent="0" marL="0">
              <a:buNone/>
            </a:pPr>
            <a:r>
              <a:rPr lang="en-US" sz="1800" i="1" dirty="0">
                <a:solidFill>
                  <a:srgbClr val="6E6E70"/>
                </a:solidFill>
                <a:latin typeface="Calibri" pitchFamily="34" charset="0"/>
                <a:ea typeface="Calibri" pitchFamily="34" charset="-122"/>
                <a:cs typeface="Calibri" pitchFamily="34" charset="-120"/>
              </a:rPr>
              <a:t>The same Python you could learn on a laptop is what runs on Frontera.</a:t>
            </a:r>
            <a:endParaRPr lang="en-US" sz="1800" dirty="0"/>
          </a:p>
        </p:txBody>
      </p:sp>
      <p:sp>
        <p:nvSpPr>
          <p:cNvPr id="14" name="Text 12"/>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09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48640"/>
            <a:ext cx="5486400" cy="320040"/>
          </a:xfrm>
          <a:prstGeom prst="rect">
            <a:avLst/>
          </a:prstGeom>
          <a:noFill/>
          <a:ln/>
        </p:spPr>
        <p:txBody>
          <a:bodyPr wrap="square" lIns="0" tIns="0" rIns="0" bIns="0" rtlCol="0" anchor="ctr"/>
          <a:lstStyle/>
          <a:p>
            <a:pPr algn="l" indent="0" marL="0">
              <a:buNone/>
            </a:pPr>
            <a:r>
              <a:rPr lang="en-US" sz="1300" b="1" spc="300" kern="0" dirty="0">
                <a:solidFill>
                  <a:srgbClr val="C1A231"/>
                </a:solidFill>
                <a:latin typeface="Arial" pitchFamily="34" charset="0"/>
                <a:ea typeface="Arial" pitchFamily="34" charset="-122"/>
                <a:cs typeface="Arial" pitchFamily="34" charset="-120"/>
              </a:rPr>
              <a:t>THE NEXT HOUR</a:t>
            </a:r>
            <a:endParaRPr lang="en-US" sz="1300" dirty="0"/>
          </a:p>
        </p:txBody>
      </p:sp>
      <p:sp>
        <p:nvSpPr>
          <p:cNvPr id="3" name="Text 1"/>
          <p:cNvSpPr/>
          <p:nvPr/>
        </p:nvSpPr>
        <p:spPr>
          <a:xfrm>
            <a:off x="640080" y="868680"/>
            <a:ext cx="10972800" cy="822960"/>
          </a:xfrm>
          <a:prstGeom prst="rect">
            <a:avLst/>
          </a:prstGeom>
          <a:noFill/>
          <a:ln/>
        </p:spPr>
        <p:txBody>
          <a:bodyPr wrap="square" lIns="0" tIns="0" rIns="0" bIns="0" rtlCol="0" anchor="ctr"/>
          <a:lstStyle/>
          <a:p>
            <a:pPr indent="0" marL="0">
              <a:buNone/>
            </a:pPr>
            <a:r>
              <a:rPr lang="en-US" sz="3200" b="1" dirty="0">
                <a:solidFill>
                  <a:srgbClr val="840028"/>
                </a:solidFill>
                <a:latin typeface="Arial" pitchFamily="34" charset="0"/>
                <a:ea typeface="Arial" pitchFamily="34" charset="-122"/>
                <a:cs typeface="Arial" pitchFamily="34" charset="-120"/>
              </a:rPr>
              <a:t>What you'll do today</a:t>
            </a:r>
            <a:endParaRPr lang="en-US" sz="3200" dirty="0"/>
          </a:p>
        </p:txBody>
      </p:sp>
      <p:sp>
        <p:nvSpPr>
          <p:cNvPr id="4" name="Shape 2"/>
          <p:cNvSpPr/>
          <p:nvPr/>
        </p:nvSpPr>
        <p:spPr>
          <a:xfrm>
            <a:off x="640080" y="2560320"/>
            <a:ext cx="640080" cy="640080"/>
          </a:xfrm>
          <a:prstGeom prst="ellipse">
            <a:avLst/>
          </a:prstGeom>
          <a:solidFill>
            <a:srgbClr val="C1A231"/>
          </a:solidFill>
          <a:ln w="12700">
            <a:solidFill>
              <a:srgbClr val="C1A231"/>
            </a:solidFill>
            <a:prstDash val="solid"/>
          </a:ln>
        </p:spPr>
      </p:sp>
      <p:sp>
        <p:nvSpPr>
          <p:cNvPr id="5" name="Text 3"/>
          <p:cNvSpPr/>
          <p:nvPr/>
        </p:nvSpPr>
        <p:spPr>
          <a:xfrm>
            <a:off x="640080" y="2560320"/>
            <a:ext cx="640080" cy="640080"/>
          </a:xfrm>
          <a:prstGeom prst="rect">
            <a:avLst/>
          </a:prstGeom>
          <a:noFill/>
          <a:ln/>
        </p:spPr>
        <p:txBody>
          <a:bodyPr wrap="square" lIns="0" tIns="0" rIns="0" bIns="0" rtlCol="0" anchor="ctr"/>
          <a:lstStyle/>
          <a:p>
            <a:pPr algn="ctr" indent="0" marL="0">
              <a:buNone/>
            </a:pPr>
            <a:r>
              <a:rPr lang="en-US" sz="2600" b="1" dirty="0">
                <a:solidFill>
                  <a:srgbClr val="840028"/>
                </a:solidFill>
                <a:latin typeface="Arial" pitchFamily="34" charset="0"/>
                <a:ea typeface="Arial" pitchFamily="34" charset="-122"/>
                <a:cs typeface="Arial" pitchFamily="34" charset="-120"/>
              </a:rPr>
              <a:t>1</a:t>
            </a:r>
            <a:endParaRPr lang="en-US" sz="2600" dirty="0"/>
          </a:p>
        </p:txBody>
      </p:sp>
      <p:sp>
        <p:nvSpPr>
          <p:cNvPr id="6" name="Text 4"/>
          <p:cNvSpPr/>
          <p:nvPr/>
        </p:nvSpPr>
        <p:spPr>
          <a:xfrm>
            <a:off x="1554480" y="2542032"/>
            <a:ext cx="4754880" cy="640080"/>
          </a:xfrm>
          <a:prstGeom prst="rect">
            <a:avLst/>
          </a:prstGeom>
          <a:noFill/>
          <a:ln/>
        </p:spPr>
        <p:txBody>
          <a:bodyPr wrap="square" lIns="0" tIns="0" rIns="0" bIns="0" rtlCol="0" anchor="ctr"/>
          <a:lstStyle/>
          <a:p>
            <a:pPr indent="0" marL="0">
              <a:buNone/>
            </a:pPr>
            <a:r>
              <a:rPr lang="en-US" sz="2100" b="1" dirty="0">
                <a:solidFill>
                  <a:srgbClr val="1A1A1A"/>
                </a:solidFill>
                <a:latin typeface="Arial" pitchFamily="34" charset="0"/>
                <a:ea typeface="Arial" pitchFamily="34" charset="-122"/>
                <a:cs typeface="Arial" pitchFamily="34" charset="-120"/>
              </a:rPr>
              <a:t>See where you are</a:t>
            </a:r>
            <a:endParaRPr lang="en-US" sz="2100" dirty="0"/>
          </a:p>
        </p:txBody>
      </p:sp>
      <p:sp>
        <p:nvSpPr>
          <p:cNvPr id="7" name="Text 5"/>
          <p:cNvSpPr/>
          <p:nvPr/>
        </p:nvSpPr>
        <p:spPr>
          <a:xfrm>
            <a:off x="6675120" y="2560320"/>
            <a:ext cx="4846320" cy="640080"/>
          </a:xfrm>
          <a:prstGeom prst="rect">
            <a:avLst/>
          </a:prstGeom>
          <a:noFill/>
          <a:ln/>
        </p:spPr>
        <p:txBody>
          <a:bodyPr wrap="square" lIns="0" tIns="0" rIns="0" bIns="0" rtlCol="0" anchor="ctr"/>
          <a:lstStyle/>
          <a:p>
            <a:pPr indent="0" marL="0">
              <a:buNone/>
            </a:pPr>
            <a:r>
              <a:rPr lang="en-US" sz="1600" dirty="0">
                <a:solidFill>
                  <a:srgbClr val="6E6E70"/>
                </a:solidFill>
                <a:latin typeface="Calibri" pitchFamily="34" charset="0"/>
                <a:ea typeface="Calibri" pitchFamily="34" charset="-122"/>
                <a:cs typeface="Calibri" pitchFamily="34" charset="-120"/>
              </a:rPr>
              <a:t>Run a cell and watch the supercomputer answer back.</a:t>
            </a:r>
            <a:endParaRPr lang="en-US" sz="1600" dirty="0"/>
          </a:p>
        </p:txBody>
      </p:sp>
      <p:sp>
        <p:nvSpPr>
          <p:cNvPr id="8" name="Shape 6"/>
          <p:cNvSpPr/>
          <p:nvPr/>
        </p:nvSpPr>
        <p:spPr>
          <a:xfrm>
            <a:off x="640080" y="3794760"/>
            <a:ext cx="640080" cy="640080"/>
          </a:xfrm>
          <a:prstGeom prst="ellipse">
            <a:avLst/>
          </a:prstGeom>
          <a:solidFill>
            <a:srgbClr val="C1A231"/>
          </a:solidFill>
          <a:ln w="12700">
            <a:solidFill>
              <a:srgbClr val="C1A231"/>
            </a:solidFill>
            <a:prstDash val="solid"/>
          </a:ln>
        </p:spPr>
      </p:sp>
      <p:sp>
        <p:nvSpPr>
          <p:cNvPr id="9" name="Text 7"/>
          <p:cNvSpPr/>
          <p:nvPr/>
        </p:nvSpPr>
        <p:spPr>
          <a:xfrm>
            <a:off x="640080" y="3794760"/>
            <a:ext cx="640080" cy="640080"/>
          </a:xfrm>
          <a:prstGeom prst="rect">
            <a:avLst/>
          </a:prstGeom>
          <a:noFill/>
          <a:ln/>
        </p:spPr>
        <p:txBody>
          <a:bodyPr wrap="square" lIns="0" tIns="0" rIns="0" bIns="0" rtlCol="0" anchor="ctr"/>
          <a:lstStyle/>
          <a:p>
            <a:pPr algn="ctr" indent="0" marL="0">
              <a:buNone/>
            </a:pPr>
            <a:r>
              <a:rPr lang="en-US" sz="2600" b="1" dirty="0">
                <a:solidFill>
                  <a:srgbClr val="840028"/>
                </a:solidFill>
                <a:latin typeface="Arial" pitchFamily="34" charset="0"/>
                <a:ea typeface="Arial" pitchFamily="34" charset="-122"/>
                <a:cs typeface="Arial" pitchFamily="34" charset="-120"/>
              </a:rPr>
              <a:t>2</a:t>
            </a:r>
            <a:endParaRPr lang="en-US" sz="2600" dirty="0"/>
          </a:p>
        </p:txBody>
      </p:sp>
      <p:sp>
        <p:nvSpPr>
          <p:cNvPr id="10" name="Text 8"/>
          <p:cNvSpPr/>
          <p:nvPr/>
        </p:nvSpPr>
        <p:spPr>
          <a:xfrm>
            <a:off x="1554480" y="3776472"/>
            <a:ext cx="4754880" cy="640080"/>
          </a:xfrm>
          <a:prstGeom prst="rect">
            <a:avLst/>
          </a:prstGeom>
          <a:noFill/>
          <a:ln/>
        </p:spPr>
        <p:txBody>
          <a:bodyPr wrap="square" lIns="0" tIns="0" rIns="0" bIns="0" rtlCol="0" anchor="ctr"/>
          <a:lstStyle/>
          <a:p>
            <a:pPr indent="0" marL="0">
              <a:buNone/>
            </a:pPr>
            <a:r>
              <a:rPr lang="en-US" sz="2100" b="1" dirty="0">
                <a:solidFill>
                  <a:srgbClr val="1A1A1A"/>
                </a:solidFill>
                <a:latin typeface="Arial" pitchFamily="34" charset="0"/>
                <a:ea typeface="Arial" pitchFamily="34" charset="-122"/>
                <a:cs typeface="Arial" pitchFamily="34" charset="-120"/>
              </a:rPr>
              <a:t>Put many cores to work</a:t>
            </a:r>
            <a:endParaRPr lang="en-US" sz="2100" dirty="0"/>
          </a:p>
        </p:txBody>
      </p:sp>
      <p:sp>
        <p:nvSpPr>
          <p:cNvPr id="11" name="Text 9"/>
          <p:cNvSpPr/>
          <p:nvPr/>
        </p:nvSpPr>
        <p:spPr>
          <a:xfrm>
            <a:off x="6675120" y="3794760"/>
            <a:ext cx="4846320" cy="640080"/>
          </a:xfrm>
          <a:prstGeom prst="rect">
            <a:avLst/>
          </a:prstGeom>
          <a:noFill/>
          <a:ln/>
        </p:spPr>
        <p:txBody>
          <a:bodyPr wrap="square" lIns="0" tIns="0" rIns="0" bIns="0" rtlCol="0" anchor="ctr"/>
          <a:lstStyle/>
          <a:p>
            <a:pPr indent="0" marL="0">
              <a:buNone/>
            </a:pPr>
            <a:r>
              <a:rPr lang="en-US" sz="1600" dirty="0">
                <a:solidFill>
                  <a:srgbClr val="6E6E70"/>
                </a:solidFill>
                <a:latin typeface="Calibri" pitchFamily="34" charset="0"/>
                <a:ea typeface="Calibri" pitchFamily="34" charset="-122"/>
                <a:cs typeface="Calibri" pitchFamily="34" charset="-120"/>
              </a:rPr>
              <a:t>Analyze data and run models the slow way, then across all 56 cores.</a:t>
            </a:r>
            <a:endParaRPr lang="en-US" sz="1600" dirty="0"/>
          </a:p>
        </p:txBody>
      </p:sp>
      <p:sp>
        <p:nvSpPr>
          <p:cNvPr id="12" name="Shape 10"/>
          <p:cNvSpPr/>
          <p:nvPr/>
        </p:nvSpPr>
        <p:spPr>
          <a:xfrm>
            <a:off x="640080" y="5029200"/>
            <a:ext cx="640080" cy="640080"/>
          </a:xfrm>
          <a:prstGeom prst="ellipse">
            <a:avLst/>
          </a:prstGeom>
          <a:solidFill>
            <a:srgbClr val="C1A231"/>
          </a:solidFill>
          <a:ln w="12700">
            <a:solidFill>
              <a:srgbClr val="C1A231"/>
            </a:solidFill>
            <a:prstDash val="solid"/>
          </a:ln>
        </p:spPr>
      </p:sp>
      <p:sp>
        <p:nvSpPr>
          <p:cNvPr id="13" name="Text 11"/>
          <p:cNvSpPr/>
          <p:nvPr/>
        </p:nvSpPr>
        <p:spPr>
          <a:xfrm>
            <a:off x="640080" y="5029200"/>
            <a:ext cx="640080" cy="640080"/>
          </a:xfrm>
          <a:prstGeom prst="rect">
            <a:avLst/>
          </a:prstGeom>
          <a:noFill/>
          <a:ln/>
        </p:spPr>
        <p:txBody>
          <a:bodyPr wrap="square" lIns="0" tIns="0" rIns="0" bIns="0" rtlCol="0" anchor="ctr"/>
          <a:lstStyle/>
          <a:p>
            <a:pPr algn="ctr" indent="0" marL="0">
              <a:buNone/>
            </a:pPr>
            <a:r>
              <a:rPr lang="en-US" sz="2600" b="1" dirty="0">
                <a:solidFill>
                  <a:srgbClr val="840028"/>
                </a:solidFill>
                <a:latin typeface="Arial" pitchFamily="34" charset="0"/>
                <a:ea typeface="Arial" pitchFamily="34" charset="-122"/>
                <a:cs typeface="Arial" pitchFamily="34" charset="-120"/>
              </a:rPr>
              <a:t>3</a:t>
            </a:r>
            <a:endParaRPr lang="en-US" sz="2600" dirty="0"/>
          </a:p>
        </p:txBody>
      </p:sp>
      <p:sp>
        <p:nvSpPr>
          <p:cNvPr id="14" name="Text 12"/>
          <p:cNvSpPr/>
          <p:nvPr/>
        </p:nvSpPr>
        <p:spPr>
          <a:xfrm>
            <a:off x="1554480" y="5010912"/>
            <a:ext cx="4754880" cy="640080"/>
          </a:xfrm>
          <a:prstGeom prst="rect">
            <a:avLst/>
          </a:prstGeom>
          <a:noFill/>
          <a:ln/>
        </p:spPr>
        <p:txBody>
          <a:bodyPr wrap="square" lIns="0" tIns="0" rIns="0" bIns="0" rtlCol="0" anchor="ctr"/>
          <a:lstStyle/>
          <a:p>
            <a:pPr indent="0" marL="0">
              <a:buNone/>
            </a:pPr>
            <a:r>
              <a:rPr lang="en-US" sz="2100" b="1" dirty="0">
                <a:solidFill>
                  <a:srgbClr val="1A1A1A"/>
                </a:solidFill>
                <a:latin typeface="Arial" pitchFamily="34" charset="0"/>
                <a:ea typeface="Arial" pitchFamily="34" charset="-122"/>
                <a:cs typeface="Arial" pitchFamily="34" charset="-120"/>
              </a:rPr>
              <a:t>Meet the ideas of HPC</a:t>
            </a:r>
            <a:endParaRPr lang="en-US" sz="2100" dirty="0"/>
          </a:p>
        </p:txBody>
      </p:sp>
      <p:sp>
        <p:nvSpPr>
          <p:cNvPr id="15" name="Text 13"/>
          <p:cNvSpPr/>
          <p:nvPr/>
        </p:nvSpPr>
        <p:spPr>
          <a:xfrm>
            <a:off x="6675120" y="5029200"/>
            <a:ext cx="4846320" cy="640080"/>
          </a:xfrm>
          <a:prstGeom prst="rect">
            <a:avLst/>
          </a:prstGeom>
          <a:noFill/>
          <a:ln/>
        </p:spPr>
        <p:txBody>
          <a:bodyPr wrap="square" lIns="0" tIns="0" rIns="0" bIns="0" rtlCol="0" anchor="ctr"/>
          <a:lstStyle/>
          <a:p>
            <a:pPr indent="0" marL="0">
              <a:buNone/>
            </a:pPr>
            <a:r>
              <a:rPr lang="en-US" sz="1600" dirty="0">
                <a:solidFill>
                  <a:srgbClr val="6E6E70"/>
                </a:solidFill>
                <a:latin typeface="Calibri" pitchFamily="34" charset="0"/>
                <a:ea typeface="Calibri" pitchFamily="34" charset="-122"/>
                <a:cs typeface="Calibri" pitchFamily="34" charset="-120"/>
              </a:rPr>
              <a:t>Nodes, jobs, and the scale that makes it powerful.</a:t>
            </a:r>
            <a:endParaRPr lang="en-US" sz="1600" dirty="0"/>
          </a:p>
        </p:txBody>
      </p:sp>
      <p:sp>
        <p:nvSpPr>
          <p:cNvPr id="16" name="Text 14"/>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840028"/>
        </a:solidFill>
      </p:bgPr>
    </p:bg>
    <p:spTree>
      <p:nvGrpSpPr>
        <p:cNvPr id="1" name=""/>
        <p:cNvGrpSpPr/>
        <p:nvPr/>
      </p:nvGrpSpPr>
      <p:grpSpPr>
        <a:xfrm>
          <a:off x="0" y="0"/>
          <a:ext cx="0" cy="0"/>
          <a:chOff x="0" y="0"/>
          <a:chExt cx="0" cy="0"/>
        </a:xfrm>
      </p:grpSpPr>
      <p:sp>
        <p:nvSpPr>
          <p:cNvPr id="2" name="Text 0"/>
          <p:cNvSpPr/>
          <p:nvPr/>
        </p:nvSpPr>
        <p:spPr>
          <a:xfrm>
            <a:off x="640080" y="548640"/>
            <a:ext cx="5486400" cy="320040"/>
          </a:xfrm>
          <a:prstGeom prst="rect">
            <a:avLst/>
          </a:prstGeom>
          <a:noFill/>
          <a:ln/>
        </p:spPr>
        <p:txBody>
          <a:bodyPr wrap="square" lIns="0" tIns="0" rIns="0" bIns="0" rtlCol="0" anchor="ctr"/>
          <a:lstStyle/>
          <a:p>
            <a:pPr algn="l" indent="0" marL="0">
              <a:buNone/>
            </a:pPr>
            <a:r>
              <a:rPr lang="en-US" sz="1300" b="1" spc="300" kern="0" dirty="0">
                <a:solidFill>
                  <a:srgbClr val="C1A231"/>
                </a:solidFill>
                <a:latin typeface="Arial" pitchFamily="34" charset="0"/>
                <a:ea typeface="Arial" pitchFamily="34" charset="-122"/>
                <a:cs typeface="Arial" pitchFamily="34" charset="-120"/>
              </a:rPr>
              <a:t>HOW THIS WORKS</a:t>
            </a:r>
            <a:endParaRPr lang="en-US" sz="1300" dirty="0"/>
          </a:p>
        </p:txBody>
      </p:sp>
      <p:sp>
        <p:nvSpPr>
          <p:cNvPr id="3" name="Text 1"/>
          <p:cNvSpPr/>
          <p:nvPr/>
        </p:nvSpPr>
        <p:spPr>
          <a:xfrm>
            <a:off x="640080" y="1463040"/>
            <a:ext cx="10972800" cy="164592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Arial" pitchFamily="34" charset="0"/>
                <a:ea typeface="Arial" pitchFamily="34" charset="-122"/>
                <a:cs typeface="Arial" pitchFamily="34" charset="-120"/>
              </a:rPr>
              <a:t>You won't watch a demo.</a:t>
            </a:r>
            <a:endParaRPr lang="en-US" sz="4000" dirty="0"/>
          </a:p>
          <a:p>
            <a:pPr indent="0" marL="0">
              <a:lnSpc>
                <a:spcPts val="4600"/>
              </a:lnSpc>
              <a:buNone/>
            </a:pPr>
            <a:r>
              <a:rPr lang="en-US" sz="4000" b="1" dirty="0">
                <a:solidFill>
                  <a:srgbClr val="FFFFFF"/>
                </a:solidFill>
                <a:latin typeface="Arial" pitchFamily="34" charset="0"/>
                <a:ea typeface="Arial" pitchFamily="34" charset="-122"/>
                <a:cs typeface="Arial" pitchFamily="34" charset="-120"/>
              </a:rPr>
              <a:t>You'll be on the machine.</a:t>
            </a:r>
            <a:endParaRPr lang="en-US" sz="4000" dirty="0"/>
          </a:p>
        </p:txBody>
      </p:sp>
      <p:sp>
        <p:nvSpPr>
          <p:cNvPr id="4" name="Text 2"/>
          <p:cNvSpPr/>
          <p:nvPr/>
        </p:nvSpPr>
        <p:spPr>
          <a:xfrm>
            <a:off x="640080" y="3383280"/>
            <a:ext cx="10515600" cy="1005840"/>
          </a:xfrm>
          <a:prstGeom prst="rect">
            <a:avLst/>
          </a:prstGeom>
          <a:noFill/>
          <a:ln/>
        </p:spPr>
        <p:txBody>
          <a:bodyPr wrap="square" lIns="0" tIns="0" rIns="0" bIns="0" rtlCol="0" anchor="ctr"/>
          <a:lstStyle/>
          <a:p>
            <a:pPr indent="0" marL="0">
              <a:buNone/>
            </a:pPr>
            <a:r>
              <a:rPr lang="en-US" sz="2000" dirty="0">
                <a:solidFill>
                  <a:srgbClr val="F0E4E8"/>
                </a:solidFill>
                <a:latin typeface="Calibri" pitchFamily="34" charset="0"/>
                <a:ea typeface="Calibri" pitchFamily="34" charset="-122"/>
                <a:cs typeface="Calibri" pitchFamily="34" charset="-120"/>
              </a:rPr>
              <a:t>We use the TACC Analysis Portal (TAP) to open a Jupyter notebook</a:t>
            </a:r>
            <a:endParaRPr lang="en-US" sz="2000" dirty="0"/>
          </a:p>
          <a:p>
            <a:pPr indent="0" marL="0">
              <a:buNone/>
            </a:pPr>
            <a:r>
              <a:rPr lang="en-US" sz="2000" dirty="0">
                <a:solidFill>
                  <a:srgbClr val="F0E4E8"/>
                </a:solidFill>
                <a:latin typeface="Calibri" pitchFamily="34" charset="0"/>
                <a:ea typeface="Calibri" pitchFamily="34" charset="-122"/>
                <a:cs typeface="Calibri" pitchFamily="34" charset="-120"/>
              </a:rPr>
              <a:t>directly on a Frontera compute node, right in your web browser.</a:t>
            </a:r>
            <a:endParaRPr lang="en-US" sz="2000" dirty="0"/>
          </a:p>
        </p:txBody>
      </p:sp>
      <p:sp>
        <p:nvSpPr>
          <p:cNvPr id="5" name="Shape 3"/>
          <p:cNvSpPr/>
          <p:nvPr/>
        </p:nvSpPr>
        <p:spPr>
          <a:xfrm>
            <a:off x="640080" y="4663440"/>
            <a:ext cx="10881360" cy="1280160"/>
          </a:xfrm>
          <a:prstGeom prst="rect">
            <a:avLst/>
          </a:prstGeom>
          <a:solidFill>
            <a:srgbClr val="5A001C"/>
          </a:solidFill>
          <a:ln w="19050">
            <a:solidFill>
              <a:srgbClr val="C1A231"/>
            </a:solidFill>
            <a:prstDash val="solid"/>
          </a:ln>
        </p:spPr>
      </p:sp>
      <p:sp>
        <p:nvSpPr>
          <p:cNvPr id="6" name="Text 4"/>
          <p:cNvSpPr/>
          <p:nvPr/>
        </p:nvSpPr>
        <p:spPr>
          <a:xfrm>
            <a:off x="960120" y="4800600"/>
            <a:ext cx="10241280" cy="1005840"/>
          </a:xfrm>
          <a:prstGeom prst="rect">
            <a:avLst/>
          </a:prstGeom>
          <a:noFill/>
          <a:ln/>
        </p:spPr>
        <p:txBody>
          <a:bodyPr wrap="square" lIns="0" tIns="0" rIns="0" bIns="0" rtlCol="0" anchor="ctr"/>
          <a:lstStyle/>
          <a:p>
            <a:pPr indent="0" marL="0">
              <a:buNone/>
            </a:pPr>
            <a:r>
              <a:rPr lang="en-US" sz="1800" i="1" dirty="0">
                <a:solidFill>
                  <a:srgbClr val="C1A231"/>
                </a:solidFill>
                <a:latin typeface="Calibri" pitchFamily="34" charset="0"/>
                <a:ea typeface="Calibri" pitchFamily="34" charset="-122"/>
                <a:cs typeface="Calibri" pitchFamily="34" charset="-120"/>
              </a:rPr>
              <a:t>The notebook that opens is a real job running on Frontera. When it prints the computer's name, that machine is physically in Austin, Texas, and you're using it.</a:t>
            </a:r>
            <a:endParaRPr lang="en-US" sz="1800" dirty="0"/>
          </a:p>
        </p:txBody>
      </p:sp>
      <p:sp>
        <p:nvSpPr>
          <p:cNvPr id="7" name="Text 5"/>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840028"/>
        </a:solidFill>
      </p:bgPr>
    </p:bg>
    <p:spTree>
      <p:nvGrpSpPr>
        <p:cNvPr id="1" name=""/>
        <p:cNvGrpSpPr/>
        <p:nvPr/>
      </p:nvGrpSpPr>
      <p:grpSpPr>
        <a:xfrm>
          <a:off x="0" y="0"/>
          <a:ext cx="0" cy="0"/>
          <a:chOff x="0" y="0"/>
          <a:chExt cx="0" cy="0"/>
        </a:xfrm>
      </p:grpSpPr>
      <p:sp>
        <p:nvSpPr>
          <p:cNvPr id="2" name="Shape 0"/>
          <p:cNvSpPr/>
          <p:nvPr/>
        </p:nvSpPr>
        <p:spPr>
          <a:xfrm>
            <a:off x="640080" y="640080"/>
            <a:ext cx="502920" cy="502920"/>
          </a:xfrm>
          <a:prstGeom prst="ellipse">
            <a:avLst/>
          </a:prstGeom>
          <a:ln w="38100">
            <a:solidFill>
              <a:srgbClr val="C1A231"/>
            </a:solidFill>
            <a:prstDash val="solid"/>
          </a:ln>
        </p:spPr>
      </p:sp>
      <p:sp>
        <p:nvSpPr>
          <p:cNvPr id="3" name="Text 1"/>
          <p:cNvSpPr/>
          <p:nvPr/>
        </p:nvSpPr>
        <p:spPr>
          <a:xfrm>
            <a:off x="640080" y="2011680"/>
            <a:ext cx="10972800" cy="1645920"/>
          </a:xfrm>
          <a:prstGeom prst="rect">
            <a:avLst/>
          </a:prstGeom>
          <a:noFill/>
          <a:ln/>
        </p:spPr>
        <p:txBody>
          <a:bodyPr wrap="square" lIns="0" tIns="0" rIns="0" bIns="0" rtlCol="0" anchor="ctr"/>
          <a:lstStyle/>
          <a:p>
            <a:pPr indent="0" marL="0">
              <a:lnSpc>
                <a:spcPts val="5000"/>
              </a:lnSpc>
              <a:buNone/>
            </a:pPr>
            <a:r>
              <a:rPr lang="en-US" sz="4400" b="1" dirty="0">
                <a:solidFill>
                  <a:srgbClr val="FFFFFF"/>
                </a:solidFill>
                <a:latin typeface="Arial" pitchFamily="34" charset="0"/>
                <a:ea typeface="Arial" pitchFamily="34" charset="-122"/>
                <a:cs typeface="Arial" pitchFamily="34" charset="-120"/>
              </a:rPr>
              <a:t>Let's get you on the supercomputer.</a:t>
            </a:r>
            <a:endParaRPr lang="en-US" sz="4400" dirty="0"/>
          </a:p>
        </p:txBody>
      </p:sp>
      <p:sp>
        <p:nvSpPr>
          <p:cNvPr id="4" name="Text 2"/>
          <p:cNvSpPr/>
          <p:nvPr/>
        </p:nvSpPr>
        <p:spPr>
          <a:xfrm>
            <a:off x="640080" y="3749040"/>
            <a:ext cx="10515600" cy="1188720"/>
          </a:xfrm>
          <a:prstGeom prst="rect">
            <a:avLst/>
          </a:prstGeom>
          <a:noFill/>
          <a:ln/>
        </p:spPr>
        <p:txBody>
          <a:bodyPr wrap="square" lIns="0" tIns="0" rIns="0" bIns="0" rtlCol="0" anchor="ctr"/>
          <a:lstStyle/>
          <a:p>
            <a:pPr indent="0" marL="0">
              <a:buNone/>
            </a:pPr>
            <a:r>
              <a:rPr lang="en-US" sz="2000" i="1" dirty="0">
                <a:solidFill>
                  <a:srgbClr val="C1A231"/>
                </a:solidFill>
                <a:latin typeface="Calibri" pitchFamily="34" charset="0"/>
                <a:ea typeface="Calibri" pitchFamily="34" charset="-122"/>
                <a:cs typeface="Calibri" pitchFamily="34" charset="-120"/>
              </a:rPr>
              <a:t>What you're about to do, running code across many cores on Frontera, is the same kind of work computational scientists do. You belong in that room.</a:t>
            </a:r>
            <a:endParaRPr lang="en-US" sz="2000" dirty="0"/>
          </a:p>
        </p:txBody>
      </p:sp>
      <p:sp>
        <p:nvSpPr>
          <p:cNvPr id="5" name="Text 3"/>
          <p:cNvSpPr/>
          <p:nvPr/>
        </p:nvSpPr>
        <p:spPr>
          <a:xfrm>
            <a:off x="640080" y="5943600"/>
            <a:ext cx="10972800" cy="365760"/>
          </a:xfrm>
          <a:prstGeom prst="rect">
            <a:avLst/>
          </a:prstGeom>
          <a:noFill/>
          <a:ln/>
        </p:spPr>
        <p:txBody>
          <a:bodyPr wrap="square" lIns="0" tIns="0" rIns="0" bIns="0" rtlCol="0" anchor="ctr"/>
          <a:lstStyle/>
          <a:p>
            <a:pPr indent="0" marL="0">
              <a:buNone/>
            </a:pPr>
            <a:r>
              <a:rPr lang="en-US" sz="1500" dirty="0">
                <a:solidFill>
                  <a:srgbClr val="E9D9DE"/>
                </a:solidFill>
                <a:latin typeface="Calibri" pitchFamily="34" charset="0"/>
                <a:ea typeface="Calibri" pitchFamily="34" charset="-122"/>
                <a:cs typeface="Calibri" pitchFamily="34" charset="-120"/>
              </a:rPr>
              <a:t>Setup, notebook, and slides:  ashleyscruse.github.io/pfx-hpc</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48640"/>
            <a:ext cx="5486400" cy="320040"/>
          </a:xfrm>
          <a:prstGeom prst="rect">
            <a:avLst/>
          </a:prstGeom>
          <a:noFill/>
          <a:ln/>
        </p:spPr>
        <p:txBody>
          <a:bodyPr wrap="square" lIns="0" tIns="0" rIns="0" bIns="0" rtlCol="0" anchor="ctr"/>
          <a:lstStyle/>
          <a:p>
            <a:pPr algn="l" indent="0" marL="0">
              <a:buNone/>
            </a:pPr>
            <a:r>
              <a:rPr lang="en-US" sz="1300" b="1" spc="300" kern="0" dirty="0">
                <a:solidFill>
                  <a:srgbClr val="C1A231"/>
                </a:solidFill>
                <a:latin typeface="Arial" pitchFamily="34" charset="0"/>
                <a:ea typeface="Arial" pitchFamily="34" charset="-122"/>
                <a:cs typeface="Arial" pitchFamily="34" charset="-120"/>
              </a:rPr>
              <a:t>WHAT'S NEXT</a:t>
            </a:r>
            <a:endParaRPr lang="en-US" sz="1300" dirty="0"/>
          </a:p>
        </p:txBody>
      </p:sp>
      <p:sp>
        <p:nvSpPr>
          <p:cNvPr id="3" name="Text 1"/>
          <p:cNvSpPr/>
          <p:nvPr/>
        </p:nvSpPr>
        <p:spPr>
          <a:xfrm>
            <a:off x="640080" y="868680"/>
            <a:ext cx="10972800" cy="822960"/>
          </a:xfrm>
          <a:prstGeom prst="rect">
            <a:avLst/>
          </a:prstGeom>
          <a:noFill/>
          <a:ln/>
        </p:spPr>
        <p:txBody>
          <a:bodyPr wrap="square" lIns="0" tIns="0" rIns="0" bIns="0" rtlCol="0" anchor="ctr"/>
          <a:lstStyle/>
          <a:p>
            <a:pPr indent="0" marL="0">
              <a:buNone/>
            </a:pPr>
            <a:r>
              <a:rPr lang="en-US" sz="3200" b="1" dirty="0">
                <a:solidFill>
                  <a:srgbClr val="840028"/>
                </a:solidFill>
                <a:latin typeface="Arial" pitchFamily="34" charset="0"/>
                <a:ea typeface="Arial" pitchFamily="34" charset="-122"/>
                <a:cs typeface="Arial" pitchFamily="34" charset="-120"/>
              </a:rPr>
              <a:t>You have more than Frontera</a:t>
            </a:r>
            <a:endParaRPr lang="en-US" sz="3200" dirty="0"/>
          </a:p>
        </p:txBody>
      </p:sp>
      <p:sp>
        <p:nvSpPr>
          <p:cNvPr id="4" name="Text 2"/>
          <p:cNvSpPr/>
          <p:nvPr/>
        </p:nvSpPr>
        <p:spPr>
          <a:xfrm>
            <a:off x="640080" y="1645920"/>
            <a:ext cx="10972800" cy="548640"/>
          </a:xfrm>
          <a:prstGeom prst="rect">
            <a:avLst/>
          </a:prstGeom>
          <a:noFill/>
          <a:ln/>
        </p:spPr>
        <p:txBody>
          <a:bodyPr wrap="square" lIns="0" tIns="0" rIns="0" bIns="0" rtlCol="0" anchor="ctr"/>
          <a:lstStyle/>
          <a:p>
            <a:pPr indent="0" marL="0">
              <a:buNone/>
            </a:pPr>
            <a:r>
              <a:rPr lang="en-US" sz="1600" dirty="0">
                <a:solidFill>
                  <a:srgbClr val="6E6E70"/>
                </a:solidFill>
                <a:latin typeface="Calibri" pitchFamily="34" charset="0"/>
                <a:ea typeface="Calibri" pitchFamily="34" charset="-122"/>
                <a:cs typeface="Calibri" pitchFamily="34" charset="-120"/>
              </a:rPr>
              <a:t>Joining the Morehouse allocation gives you three TACC supercomputers with one login. Different machines are built for different jobs.</a:t>
            </a:r>
            <a:endParaRPr lang="en-US" sz="1600" dirty="0"/>
          </a:p>
        </p:txBody>
      </p:sp>
      <p:sp>
        <p:nvSpPr>
          <p:cNvPr id="5" name="Shape 3"/>
          <p:cNvSpPr/>
          <p:nvPr/>
        </p:nvSpPr>
        <p:spPr>
          <a:xfrm>
            <a:off x="640080" y="2377440"/>
            <a:ext cx="3611880" cy="3246120"/>
          </a:xfrm>
          <a:prstGeom prst="rect">
            <a:avLst/>
          </a:prstGeom>
          <a:solidFill>
            <a:srgbClr val="EFEDEA"/>
          </a:solidFill>
          <a:ln w="12700">
            <a:solidFill>
              <a:srgbClr val="EFEDEA"/>
            </a:solidFill>
            <a:prstDash val="solid"/>
          </a:ln>
        </p:spPr>
      </p:sp>
      <p:sp>
        <p:nvSpPr>
          <p:cNvPr id="6" name="Text 4"/>
          <p:cNvSpPr/>
          <p:nvPr/>
        </p:nvSpPr>
        <p:spPr>
          <a:xfrm>
            <a:off x="868680" y="2560320"/>
            <a:ext cx="3154680" cy="457200"/>
          </a:xfrm>
          <a:prstGeom prst="rect">
            <a:avLst/>
          </a:prstGeom>
          <a:noFill/>
          <a:ln/>
        </p:spPr>
        <p:txBody>
          <a:bodyPr wrap="square" lIns="0" tIns="0" rIns="0" bIns="0" rtlCol="0" anchor="ctr"/>
          <a:lstStyle/>
          <a:p>
            <a:pPr indent="0" marL="0">
              <a:buNone/>
            </a:pPr>
            <a:r>
              <a:rPr lang="en-US" sz="2200" b="1" dirty="0">
                <a:solidFill>
                  <a:srgbClr val="840028"/>
                </a:solidFill>
                <a:latin typeface="Arial" pitchFamily="34" charset="0"/>
                <a:ea typeface="Arial" pitchFamily="34" charset="-122"/>
                <a:cs typeface="Arial" pitchFamily="34" charset="-120"/>
              </a:rPr>
              <a:t>Frontera</a:t>
            </a:r>
            <a:endParaRPr lang="en-US" sz="2200" dirty="0"/>
          </a:p>
        </p:txBody>
      </p:sp>
      <p:sp>
        <p:nvSpPr>
          <p:cNvPr id="7" name="Text 5"/>
          <p:cNvSpPr/>
          <p:nvPr/>
        </p:nvSpPr>
        <p:spPr>
          <a:xfrm>
            <a:off x="868680" y="3127248"/>
            <a:ext cx="3154680" cy="868680"/>
          </a:xfrm>
          <a:prstGeom prst="rect">
            <a:avLst/>
          </a:prstGeom>
          <a:noFill/>
          <a:ln/>
        </p:spPr>
        <p:txBody>
          <a:bodyPr wrap="square" lIns="0" tIns="0" rIns="0" bIns="0" rtlCol="0" anchor="t"/>
          <a:lstStyle/>
          <a:p>
            <a:pPr indent="0" marL="0">
              <a:buNone/>
            </a:pPr>
            <a:r>
              <a:rPr lang="en-US" sz="1450" dirty="0">
                <a:solidFill>
                  <a:srgbClr val="1A1A1A"/>
                </a:solidFill>
                <a:latin typeface="Calibri" pitchFamily="34" charset="0"/>
                <a:ea typeface="Calibri" pitchFamily="34" charset="-122"/>
                <a:cs typeface="Calibri" pitchFamily="34" charset="-120"/>
              </a:rPr>
              <a:t>8,368 CPU nodes</a:t>
            </a:r>
            <a:endParaRPr lang="en-US" sz="1450" dirty="0"/>
          </a:p>
          <a:p>
            <a:pPr indent="0" marL="0">
              <a:buNone/>
            </a:pPr>
            <a:r>
              <a:rPr lang="en-US" sz="1450" dirty="0">
                <a:solidFill>
                  <a:srgbClr val="1A1A1A"/>
                </a:solidFill>
                <a:latin typeface="Calibri" pitchFamily="34" charset="0"/>
                <a:ea typeface="Calibri" pitchFamily="34" charset="-122"/>
                <a:cs typeface="Calibri" pitchFamily="34" charset="-120"/>
              </a:rPr>
              <a:t>56 cores each</a:t>
            </a:r>
            <a:endParaRPr lang="en-US" sz="1450" dirty="0"/>
          </a:p>
        </p:txBody>
      </p:sp>
      <p:sp>
        <p:nvSpPr>
          <p:cNvPr id="8" name="Text 6"/>
          <p:cNvSpPr/>
          <p:nvPr/>
        </p:nvSpPr>
        <p:spPr>
          <a:xfrm>
            <a:off x="868680" y="4114800"/>
            <a:ext cx="3154680" cy="274320"/>
          </a:xfrm>
          <a:prstGeom prst="rect">
            <a:avLst/>
          </a:prstGeom>
          <a:noFill/>
          <a:ln/>
        </p:spPr>
        <p:txBody>
          <a:bodyPr wrap="square" lIns="0" tIns="0" rIns="0" bIns="0" rtlCol="0" anchor="ctr"/>
          <a:lstStyle/>
          <a:p>
            <a:pPr indent="0" marL="0">
              <a:buNone/>
            </a:pPr>
            <a:r>
              <a:rPr lang="en-US" sz="1200" b="1" spc="200" kern="0" dirty="0">
                <a:solidFill>
                  <a:srgbClr val="840028"/>
                </a:solidFill>
                <a:latin typeface="Arial" pitchFamily="34" charset="0"/>
                <a:ea typeface="Arial" pitchFamily="34" charset="-122"/>
                <a:cs typeface="Arial" pitchFamily="34" charset="-120"/>
              </a:rPr>
              <a:t>BEST FOR</a:t>
            </a:r>
            <a:endParaRPr lang="en-US" sz="1200" dirty="0"/>
          </a:p>
        </p:txBody>
      </p:sp>
      <p:sp>
        <p:nvSpPr>
          <p:cNvPr id="9" name="Text 7"/>
          <p:cNvSpPr/>
          <p:nvPr/>
        </p:nvSpPr>
        <p:spPr>
          <a:xfrm>
            <a:off x="868680" y="4407408"/>
            <a:ext cx="3154680" cy="1051560"/>
          </a:xfrm>
          <a:prstGeom prst="rect">
            <a:avLst/>
          </a:prstGeom>
          <a:noFill/>
          <a:ln/>
        </p:spPr>
        <p:txBody>
          <a:bodyPr wrap="square" lIns="0" tIns="0" rIns="0" bIns="0" rtlCol="0" anchor="t"/>
          <a:lstStyle/>
          <a:p>
            <a:pPr indent="0" marL="0">
              <a:buNone/>
            </a:pPr>
            <a:r>
              <a:rPr lang="en-US" sz="1400" dirty="0">
                <a:solidFill>
                  <a:srgbClr val="1A1A1A"/>
                </a:solidFill>
                <a:latin typeface="Calibri" pitchFamily="34" charset="0"/>
                <a:ea typeface="Calibri" pitchFamily="34" charset="-122"/>
                <a:cs typeface="Calibri" pitchFamily="34" charset="-120"/>
              </a:rPr>
              <a:t>Very large CPU jobs and big groups. It's why we used it today.</a:t>
            </a:r>
            <a:endParaRPr lang="en-US" sz="1400" dirty="0"/>
          </a:p>
        </p:txBody>
      </p:sp>
      <p:sp>
        <p:nvSpPr>
          <p:cNvPr id="10" name="Shape 8"/>
          <p:cNvSpPr/>
          <p:nvPr/>
        </p:nvSpPr>
        <p:spPr>
          <a:xfrm>
            <a:off x="4480560" y="2377440"/>
            <a:ext cx="3611880" cy="3246120"/>
          </a:xfrm>
          <a:prstGeom prst="rect">
            <a:avLst/>
          </a:prstGeom>
          <a:solidFill>
            <a:srgbClr val="EFEDEA"/>
          </a:solidFill>
          <a:ln w="12700">
            <a:solidFill>
              <a:srgbClr val="EFEDEA"/>
            </a:solidFill>
            <a:prstDash val="solid"/>
          </a:ln>
        </p:spPr>
      </p:sp>
      <p:sp>
        <p:nvSpPr>
          <p:cNvPr id="11" name="Text 9"/>
          <p:cNvSpPr/>
          <p:nvPr/>
        </p:nvSpPr>
        <p:spPr>
          <a:xfrm>
            <a:off x="4709160" y="2560320"/>
            <a:ext cx="3154680" cy="457200"/>
          </a:xfrm>
          <a:prstGeom prst="rect">
            <a:avLst/>
          </a:prstGeom>
          <a:noFill/>
          <a:ln/>
        </p:spPr>
        <p:txBody>
          <a:bodyPr wrap="square" lIns="0" tIns="0" rIns="0" bIns="0" rtlCol="0" anchor="ctr"/>
          <a:lstStyle/>
          <a:p>
            <a:pPr indent="0" marL="0">
              <a:buNone/>
            </a:pPr>
            <a:r>
              <a:rPr lang="en-US" sz="2200" b="1" dirty="0">
                <a:solidFill>
                  <a:srgbClr val="840028"/>
                </a:solidFill>
                <a:latin typeface="Arial" pitchFamily="34" charset="0"/>
                <a:ea typeface="Arial" pitchFamily="34" charset="-122"/>
                <a:cs typeface="Arial" pitchFamily="34" charset="-120"/>
              </a:rPr>
              <a:t>Stampede3</a:t>
            </a:r>
            <a:endParaRPr lang="en-US" sz="2200" dirty="0"/>
          </a:p>
        </p:txBody>
      </p:sp>
      <p:sp>
        <p:nvSpPr>
          <p:cNvPr id="12" name="Text 10"/>
          <p:cNvSpPr/>
          <p:nvPr/>
        </p:nvSpPr>
        <p:spPr>
          <a:xfrm>
            <a:off x="4709160" y="3127248"/>
            <a:ext cx="3154680" cy="868680"/>
          </a:xfrm>
          <a:prstGeom prst="rect">
            <a:avLst/>
          </a:prstGeom>
          <a:noFill/>
          <a:ln/>
        </p:spPr>
        <p:txBody>
          <a:bodyPr wrap="square" lIns="0" tIns="0" rIns="0" bIns="0" rtlCol="0" anchor="t"/>
          <a:lstStyle/>
          <a:p>
            <a:pPr indent="0" marL="0">
              <a:buNone/>
            </a:pPr>
            <a:r>
              <a:rPr lang="en-US" sz="1450" dirty="0">
                <a:solidFill>
                  <a:srgbClr val="1A1A1A"/>
                </a:solidFill>
                <a:latin typeface="Calibri" pitchFamily="34" charset="0"/>
                <a:ea typeface="Calibri" pitchFamily="34" charset="-122"/>
                <a:cs typeface="Calibri" pitchFamily="34" charset="-120"/>
              </a:rPr>
              <a:t>~1,900 nodes</a:t>
            </a:r>
            <a:endParaRPr lang="en-US" sz="1450" dirty="0"/>
          </a:p>
          <a:p>
            <a:pPr indent="0" marL="0">
              <a:buNone/>
            </a:pPr>
            <a:r>
              <a:rPr lang="en-US" sz="1450" dirty="0">
                <a:solidFill>
                  <a:srgbClr val="1A1A1A"/>
                </a:solidFill>
                <a:latin typeface="Calibri" pitchFamily="34" charset="0"/>
                <a:ea typeface="Calibri" pitchFamily="34" charset="-122"/>
                <a:cs typeface="Calibri" pitchFamily="34" charset="-120"/>
              </a:rPr>
              <a:t>Intel CPUs + some GPUs</a:t>
            </a:r>
            <a:endParaRPr lang="en-US" sz="1450" dirty="0"/>
          </a:p>
        </p:txBody>
      </p:sp>
      <p:sp>
        <p:nvSpPr>
          <p:cNvPr id="13" name="Text 11"/>
          <p:cNvSpPr/>
          <p:nvPr/>
        </p:nvSpPr>
        <p:spPr>
          <a:xfrm>
            <a:off x="4709160" y="4114800"/>
            <a:ext cx="3154680" cy="274320"/>
          </a:xfrm>
          <a:prstGeom prst="rect">
            <a:avLst/>
          </a:prstGeom>
          <a:noFill/>
          <a:ln/>
        </p:spPr>
        <p:txBody>
          <a:bodyPr wrap="square" lIns="0" tIns="0" rIns="0" bIns="0" rtlCol="0" anchor="ctr"/>
          <a:lstStyle/>
          <a:p>
            <a:pPr indent="0" marL="0">
              <a:buNone/>
            </a:pPr>
            <a:r>
              <a:rPr lang="en-US" sz="1200" b="1" spc="200" kern="0" dirty="0">
                <a:solidFill>
                  <a:srgbClr val="840028"/>
                </a:solidFill>
                <a:latin typeface="Arial" pitchFamily="34" charset="0"/>
                <a:ea typeface="Arial" pitchFamily="34" charset="-122"/>
                <a:cs typeface="Arial" pitchFamily="34" charset="-120"/>
              </a:rPr>
              <a:t>BEST FOR</a:t>
            </a:r>
            <a:endParaRPr lang="en-US" sz="1200" dirty="0"/>
          </a:p>
        </p:txBody>
      </p:sp>
      <p:sp>
        <p:nvSpPr>
          <p:cNvPr id="14" name="Text 12"/>
          <p:cNvSpPr/>
          <p:nvPr/>
        </p:nvSpPr>
        <p:spPr>
          <a:xfrm>
            <a:off x="4709160" y="4407408"/>
            <a:ext cx="3154680" cy="1051560"/>
          </a:xfrm>
          <a:prstGeom prst="rect">
            <a:avLst/>
          </a:prstGeom>
          <a:noFill/>
          <a:ln/>
        </p:spPr>
        <p:txBody>
          <a:bodyPr wrap="square" lIns="0" tIns="0" rIns="0" bIns="0" rtlCol="0" anchor="t"/>
          <a:lstStyle/>
          <a:p>
            <a:pPr indent="0" marL="0">
              <a:buNone/>
            </a:pPr>
            <a:r>
              <a:rPr lang="en-US" sz="1400" dirty="0">
                <a:solidFill>
                  <a:srgbClr val="1A1A1A"/>
                </a:solidFill>
                <a:latin typeface="Calibri" pitchFamily="34" charset="0"/>
                <a:ea typeface="Calibri" pitchFamily="34" charset="-122"/>
                <a:cs typeface="Calibri" pitchFamily="34" charset="-120"/>
              </a:rPr>
              <a:t>General-purpose simulation and data work on CPUs.</a:t>
            </a:r>
            <a:endParaRPr lang="en-US" sz="1400" dirty="0"/>
          </a:p>
        </p:txBody>
      </p:sp>
      <p:sp>
        <p:nvSpPr>
          <p:cNvPr id="15" name="Shape 13"/>
          <p:cNvSpPr/>
          <p:nvPr/>
        </p:nvSpPr>
        <p:spPr>
          <a:xfrm>
            <a:off x="8321040" y="2377440"/>
            <a:ext cx="3611880" cy="3246120"/>
          </a:xfrm>
          <a:prstGeom prst="rect">
            <a:avLst/>
          </a:prstGeom>
          <a:solidFill>
            <a:srgbClr val="EFEDEA"/>
          </a:solidFill>
          <a:ln w="12700">
            <a:solidFill>
              <a:srgbClr val="EFEDEA"/>
            </a:solidFill>
            <a:prstDash val="solid"/>
          </a:ln>
        </p:spPr>
      </p:sp>
      <p:sp>
        <p:nvSpPr>
          <p:cNvPr id="16" name="Text 14"/>
          <p:cNvSpPr/>
          <p:nvPr/>
        </p:nvSpPr>
        <p:spPr>
          <a:xfrm>
            <a:off x="8549640" y="2560320"/>
            <a:ext cx="3154680" cy="457200"/>
          </a:xfrm>
          <a:prstGeom prst="rect">
            <a:avLst/>
          </a:prstGeom>
          <a:noFill/>
          <a:ln/>
        </p:spPr>
        <p:txBody>
          <a:bodyPr wrap="square" lIns="0" tIns="0" rIns="0" bIns="0" rtlCol="0" anchor="ctr"/>
          <a:lstStyle/>
          <a:p>
            <a:pPr indent="0" marL="0">
              <a:buNone/>
            </a:pPr>
            <a:r>
              <a:rPr lang="en-US" sz="2200" b="1" dirty="0">
                <a:solidFill>
                  <a:srgbClr val="840028"/>
                </a:solidFill>
                <a:latin typeface="Arial" pitchFamily="34" charset="0"/>
                <a:ea typeface="Arial" pitchFamily="34" charset="-122"/>
                <a:cs typeface="Arial" pitchFamily="34" charset="-120"/>
              </a:rPr>
              <a:t>Vista</a:t>
            </a:r>
            <a:endParaRPr lang="en-US" sz="2200" dirty="0"/>
          </a:p>
        </p:txBody>
      </p:sp>
      <p:sp>
        <p:nvSpPr>
          <p:cNvPr id="17" name="Text 15"/>
          <p:cNvSpPr/>
          <p:nvPr/>
        </p:nvSpPr>
        <p:spPr>
          <a:xfrm>
            <a:off x="8549640" y="3127248"/>
            <a:ext cx="3154680" cy="868680"/>
          </a:xfrm>
          <a:prstGeom prst="rect">
            <a:avLst/>
          </a:prstGeom>
          <a:noFill/>
          <a:ln/>
        </p:spPr>
        <p:txBody>
          <a:bodyPr wrap="square" lIns="0" tIns="0" rIns="0" bIns="0" rtlCol="0" anchor="t"/>
          <a:lstStyle/>
          <a:p>
            <a:pPr indent="0" marL="0">
              <a:buNone/>
            </a:pPr>
            <a:r>
              <a:rPr lang="en-US" sz="1450" dirty="0">
                <a:solidFill>
                  <a:srgbClr val="1A1A1A"/>
                </a:solidFill>
                <a:latin typeface="Calibri" pitchFamily="34" charset="0"/>
                <a:ea typeface="Calibri" pitchFamily="34" charset="-122"/>
                <a:cs typeface="Calibri" pitchFamily="34" charset="-120"/>
              </a:rPr>
              <a:t>600 GPU nodes (Grace Hopper)</a:t>
            </a:r>
            <a:endParaRPr lang="en-US" sz="1450" dirty="0"/>
          </a:p>
          <a:p>
            <a:pPr indent="0" marL="0">
              <a:buNone/>
            </a:pPr>
            <a:r>
              <a:rPr lang="en-US" sz="1450" dirty="0">
                <a:solidFill>
                  <a:srgbClr val="1A1A1A"/>
                </a:solidFill>
                <a:latin typeface="Calibri" pitchFamily="34" charset="0"/>
                <a:ea typeface="Calibri" pitchFamily="34" charset="-122"/>
                <a:cs typeface="Calibri" pitchFamily="34" charset="-120"/>
              </a:rPr>
              <a:t>+ 256 CPU nodes</a:t>
            </a:r>
            <a:endParaRPr lang="en-US" sz="1450" dirty="0"/>
          </a:p>
        </p:txBody>
      </p:sp>
      <p:sp>
        <p:nvSpPr>
          <p:cNvPr id="18" name="Text 16"/>
          <p:cNvSpPr/>
          <p:nvPr/>
        </p:nvSpPr>
        <p:spPr>
          <a:xfrm>
            <a:off x="8549640" y="4114800"/>
            <a:ext cx="3154680" cy="274320"/>
          </a:xfrm>
          <a:prstGeom prst="rect">
            <a:avLst/>
          </a:prstGeom>
          <a:noFill/>
          <a:ln/>
        </p:spPr>
        <p:txBody>
          <a:bodyPr wrap="square" lIns="0" tIns="0" rIns="0" bIns="0" rtlCol="0" anchor="ctr"/>
          <a:lstStyle/>
          <a:p>
            <a:pPr indent="0" marL="0">
              <a:buNone/>
            </a:pPr>
            <a:r>
              <a:rPr lang="en-US" sz="1200" b="1" spc="200" kern="0" dirty="0">
                <a:solidFill>
                  <a:srgbClr val="840028"/>
                </a:solidFill>
                <a:latin typeface="Arial" pitchFamily="34" charset="0"/>
                <a:ea typeface="Arial" pitchFamily="34" charset="-122"/>
                <a:cs typeface="Arial" pitchFamily="34" charset="-120"/>
              </a:rPr>
              <a:t>BEST FOR</a:t>
            </a:r>
            <a:endParaRPr lang="en-US" sz="1200" dirty="0"/>
          </a:p>
        </p:txBody>
      </p:sp>
      <p:sp>
        <p:nvSpPr>
          <p:cNvPr id="19" name="Text 17"/>
          <p:cNvSpPr/>
          <p:nvPr/>
        </p:nvSpPr>
        <p:spPr>
          <a:xfrm>
            <a:off x="8549640" y="4407408"/>
            <a:ext cx="3154680" cy="1051560"/>
          </a:xfrm>
          <a:prstGeom prst="rect">
            <a:avLst/>
          </a:prstGeom>
          <a:noFill/>
          <a:ln/>
        </p:spPr>
        <p:txBody>
          <a:bodyPr wrap="square" lIns="0" tIns="0" rIns="0" bIns="0" rtlCol="0" anchor="t"/>
          <a:lstStyle/>
          <a:p>
            <a:pPr indent="0" marL="0">
              <a:buNone/>
            </a:pPr>
            <a:r>
              <a:rPr lang="en-US" sz="1400" dirty="0">
                <a:solidFill>
                  <a:srgbClr val="1A1A1A"/>
                </a:solidFill>
                <a:latin typeface="Calibri" pitchFamily="34" charset="0"/>
                <a:ea typeface="Calibri" pitchFamily="34" charset="-122"/>
                <a:cs typeface="Calibri" pitchFamily="34" charset="-120"/>
              </a:rPr>
              <a:t>AI, machine learning, and anything that needs GPUs.</a:t>
            </a:r>
            <a:endParaRPr lang="en-US" sz="1400" dirty="0"/>
          </a:p>
        </p:txBody>
      </p:sp>
      <p:sp>
        <p:nvSpPr>
          <p:cNvPr id="20" name="Text 18"/>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840028"/>
        </a:solidFill>
      </p:bgPr>
    </p:bg>
    <p:spTree>
      <p:nvGrpSpPr>
        <p:cNvPr id="1" name=""/>
        <p:cNvGrpSpPr/>
        <p:nvPr/>
      </p:nvGrpSpPr>
      <p:grpSpPr>
        <a:xfrm>
          <a:off x="0" y="0"/>
          <a:ext cx="0" cy="0"/>
          <a:chOff x="0" y="0"/>
          <a:chExt cx="0" cy="0"/>
        </a:xfrm>
      </p:grpSpPr>
      <p:sp>
        <p:nvSpPr>
          <p:cNvPr id="2" name="Shape 0"/>
          <p:cNvSpPr/>
          <p:nvPr/>
        </p:nvSpPr>
        <p:spPr>
          <a:xfrm>
            <a:off x="640080" y="640080"/>
            <a:ext cx="502920" cy="502920"/>
          </a:xfrm>
          <a:prstGeom prst="ellipse">
            <a:avLst/>
          </a:prstGeom>
          <a:ln w="38100">
            <a:solidFill>
              <a:srgbClr val="C1A231"/>
            </a:solidFill>
            <a:prstDash val="solid"/>
          </a:ln>
        </p:spPr>
      </p:sp>
      <p:sp>
        <p:nvSpPr>
          <p:cNvPr id="3" name="Text 1"/>
          <p:cNvSpPr/>
          <p:nvPr/>
        </p:nvSpPr>
        <p:spPr>
          <a:xfrm>
            <a:off x="640080" y="2194560"/>
            <a:ext cx="10972800" cy="1463040"/>
          </a:xfrm>
          <a:prstGeom prst="rect">
            <a:avLst/>
          </a:prstGeom>
          <a:noFill/>
          <a:ln/>
        </p:spPr>
        <p:txBody>
          <a:bodyPr wrap="square" lIns="0" tIns="0" rIns="0" bIns="0" rtlCol="0" anchor="ctr"/>
          <a:lstStyle/>
          <a:p>
            <a:pPr indent="0" marL="0">
              <a:lnSpc>
                <a:spcPts val="5000"/>
              </a:lnSpc>
              <a:buNone/>
            </a:pPr>
            <a:r>
              <a:rPr lang="en-US" sz="4400" b="1" dirty="0">
                <a:solidFill>
                  <a:srgbClr val="FFFFFF"/>
                </a:solidFill>
                <a:latin typeface="Arial" pitchFamily="34" charset="0"/>
                <a:ea typeface="Arial" pitchFamily="34" charset="-122"/>
                <a:cs typeface="Arial" pitchFamily="34" charset="-120"/>
              </a:rPr>
              <a:t>You're a supercomputer user now.</a:t>
            </a:r>
            <a:endParaRPr lang="en-US" sz="4400" dirty="0"/>
          </a:p>
        </p:txBody>
      </p:sp>
      <p:sp>
        <p:nvSpPr>
          <p:cNvPr id="4" name="Text 2"/>
          <p:cNvSpPr/>
          <p:nvPr/>
        </p:nvSpPr>
        <p:spPr>
          <a:xfrm>
            <a:off x="640080" y="3840480"/>
            <a:ext cx="10515600" cy="914400"/>
          </a:xfrm>
          <a:prstGeom prst="rect">
            <a:avLst/>
          </a:prstGeom>
          <a:noFill/>
          <a:ln/>
        </p:spPr>
        <p:txBody>
          <a:bodyPr wrap="square" lIns="0" tIns="0" rIns="0" bIns="0" rtlCol="0" anchor="ctr"/>
          <a:lstStyle/>
          <a:p>
            <a:pPr indent="0" marL="0">
              <a:buNone/>
            </a:pPr>
            <a:r>
              <a:rPr lang="en-US" sz="2000" i="1" dirty="0">
                <a:solidFill>
                  <a:srgbClr val="C1A231"/>
                </a:solidFill>
                <a:latin typeface="Calibri" pitchFamily="34" charset="0"/>
                <a:ea typeface="Calibri" pitchFamily="34" charset="-122"/>
                <a:cs typeface="Calibri" pitchFamily="34" charset="-120"/>
              </a:rPr>
              <a:t>Frontera today. Stampede3 and Vista whenever your work is ready for them.</a:t>
            </a:r>
            <a:endParaRPr lang="en-US" sz="2000" dirty="0"/>
          </a:p>
        </p:txBody>
      </p:sp>
      <p:sp>
        <p:nvSpPr>
          <p:cNvPr id="5" name="Text 3"/>
          <p:cNvSpPr/>
          <p:nvPr/>
        </p:nvSpPr>
        <p:spPr>
          <a:xfrm>
            <a:off x="640080" y="5943600"/>
            <a:ext cx="10972800" cy="365760"/>
          </a:xfrm>
          <a:prstGeom prst="rect">
            <a:avLst/>
          </a:prstGeom>
          <a:noFill/>
          <a:ln/>
        </p:spPr>
        <p:txBody>
          <a:bodyPr wrap="square" lIns="0" tIns="0" rIns="0" bIns="0" rtlCol="0" anchor="ctr"/>
          <a:lstStyle/>
          <a:p>
            <a:pPr indent="0" marL="0">
              <a:buNone/>
            </a:pPr>
            <a:r>
              <a:rPr lang="en-US" sz="1500" dirty="0">
                <a:solidFill>
                  <a:srgbClr val="E9D9DE"/>
                </a:solidFill>
                <a:latin typeface="Calibri" pitchFamily="34" charset="0"/>
                <a:ea typeface="Calibri" pitchFamily="34" charset="-122"/>
                <a:cs typeface="Calibri" pitchFamily="34" charset="-120"/>
              </a:rPr>
              <a:t>Everything from today:  ashleyscruse.github.io/pfx-hpc</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2026-07-21T13:55:07Z</dcterms:created>
  <dcterms:modified xsi:type="dcterms:W3CDTF">2026-07-21T13:55:07Z</dcterms:modified>
</cp:coreProperties>
</file>