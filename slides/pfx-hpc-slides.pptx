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the next hour you'll write Python and run it on a real supercomputer. No experience needed. Get them curious, not intimidated.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emotional core of the talk. Slow down here. The point is access and belonging, not speed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Stick to the specs, and lead with scale: one node, thousands of nodes, 250 reserved for this room. No laptop comparison.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the one or two examples that will excite this particular room. These are all documented real uses of Frontera.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 the notebook's parallel demo pays off. Keep it to one sentence: many cores, at the same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code line: that's the first thing they'll actually run. Say it out loud as a promise, not a warning.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expectations. It's fast-paced and hands-on. Reassure: you'll do it together, cell by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sets up the reveal in the notebook's first cell (hostname). Tell them to watch for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Lower the stakes. The biggest blocker for beginners is fear of breaking something. Say explicitly: you can't.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belonging message, then switch to the browser and open TAP together. This is the transition into the notebook.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40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ln w="38100">
            <a:solidFill>
              <a:srgbClr val="C1A2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25880" y="7132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PFX  PRE-FRESHMAN  PROGRAM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 to Python</a:t>
            </a:r>
            <a:endParaRPr lang="en-US" sz="6000" dirty="0"/>
          </a:p>
          <a:p>
            <a:pPr indent="0" marL="0">
              <a:lnSpc>
                <a:spcPts val="6200"/>
              </a:lnSpc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Supercomputing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640080" y="4526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1A2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real code that runs on Frontera, a research supercomputer at TACC.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Morehouse College  ·  Center for Broadening Participation in Computing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5A00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get time on a research supercomputer.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43891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9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is a shared research system at the Texas Advanced Computing Center in Austin, Texas. Researchers apply for time on it. This morning, it's yours.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1185855" y="6217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FRONTERA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Frontera by the numbers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2514600" cy="2514600"/>
          </a:xfrm>
          <a:prstGeom prst="rect">
            <a:avLst/>
          </a:prstGeom>
          <a:solidFill>
            <a:srgbClr val="EFEDEA"/>
          </a:solidFill>
          <a:ln w="12700">
            <a:solidFill>
              <a:srgbClr val="EFED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60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8,368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77240" y="37033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nodes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74720" y="2286000"/>
            <a:ext cx="2514600" cy="2514600"/>
          </a:xfrm>
          <a:prstGeom prst="rect">
            <a:avLst/>
          </a:prstGeom>
          <a:solidFill>
            <a:srgbClr val="EFEDEA"/>
          </a:solidFill>
          <a:ln w="12700">
            <a:solidFill>
              <a:srgbClr val="EFED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2560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611880" y="37033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 per node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2514600" cy="2514600"/>
          </a:xfrm>
          <a:prstGeom prst="rect">
            <a:avLst/>
          </a:prstGeom>
          <a:solidFill>
            <a:srgbClr val="EFEDEA"/>
          </a:solidFill>
          <a:ln w="12700">
            <a:solidFill>
              <a:srgbClr val="EFED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560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468,608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446520" y="37033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cores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total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0" y="2286000"/>
            <a:ext cx="2514600" cy="2514600"/>
          </a:xfrm>
          <a:prstGeom prst="rect">
            <a:avLst/>
          </a:prstGeom>
          <a:solidFill>
            <a:srgbClr val="EFEDEA"/>
          </a:solidFill>
          <a:ln w="12700">
            <a:solidFill>
              <a:srgbClr val="EFED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256032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192 GB</a:t>
            </a:r>
            <a:endParaRPr lang="en-US" sz="4600" dirty="0"/>
          </a:p>
        </p:txBody>
      </p:sp>
      <p:sp>
        <p:nvSpPr>
          <p:cNvPr id="15" name="Text 13"/>
          <p:cNvSpPr/>
          <p:nvPr/>
        </p:nvSpPr>
        <p:spPr>
          <a:xfrm>
            <a:off x="9281160" y="3703320"/>
            <a:ext cx="2240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per node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has 56 cores. Frontera has 8,368 of them, and 250 are reserved just for this workshop.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85855" y="6217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SCIENCE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researchers actually run on 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48640" cy="548640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1732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Hurricanes and weather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17320" y="272491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Storm-surge and weather models that simulate how hurricanes form and move.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48640" cy="548640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95160" y="2240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Fighting disease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995160" y="272491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Simulating how proteins fold and how drug and vaccine molecules fit together.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434840"/>
            <a:ext cx="548640" cy="548640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Studying black holes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17320" y="487375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colliding black holes and the gravitational waves they send across the universe.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217920" y="4434840"/>
            <a:ext cx="548640" cy="548640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95160" y="4389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the cosmos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995160" y="487375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Astrophysics simulations of how galaxies and the early universe formed.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185855" y="6217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workers, at the same time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828800" y="2651760"/>
            <a:ext cx="1280160" cy="1280160"/>
          </a:xfrm>
          <a:prstGeom prst="ellipse">
            <a:avLst/>
          </a:prstGeom>
          <a:solidFill>
            <a:srgbClr val="6E6E70"/>
          </a:solidFill>
          <a:ln w="12700">
            <a:solidFill>
              <a:srgbClr val="6E6E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1148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work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piece at a time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97680" y="29260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669280" y="210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cores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0" y="2651760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73952" y="2651760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04304" y="2651760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34656" y="2651760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65008" y="2651760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0" y="2651760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3182112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3182112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04304" y="3182112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34656" y="3182112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182112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3182112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3712464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712464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04304" y="3712464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34656" y="3712464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5008" y="3712464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95360" y="3712464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4242816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73952" y="4242816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04304" y="4242816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34656" y="4242816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65008" y="4242816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95360" y="4242816"/>
            <a:ext cx="384048" cy="384048"/>
          </a:xfrm>
          <a:prstGeom prst="ellipse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4800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work and finish together, far faster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40080" y="5806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high-performance computing (HPC). You'll feel the speed difference yourself in a few minutes.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11185855" y="6217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Python?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2331720"/>
          </a:xfrm>
          <a:prstGeom prst="rect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514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Readable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474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looks almost like plain English, so you can learn it fast.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383280" cy="2331720"/>
          </a:xfrm>
          <a:prstGeom prst="rect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514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Everywhere in science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17720" y="3474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language for data, AI, biology, physics, and more.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2286000"/>
            <a:ext cx="3383280" cy="2331720"/>
          </a:xfrm>
          <a:prstGeom prst="rect">
            <a:avLst/>
          </a:prstGeom>
          <a:solidFill>
            <a:srgbClr val="840028"/>
          </a:solidFill>
          <a:ln w="12700">
            <a:solidFill>
              <a:srgbClr val="8400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251460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21040" y="34747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language runs on your laptop and on Frontera.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257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400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print("Hello, Frontera")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185855" y="6217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HOUR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do today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640080" cy="640080"/>
          </a:xfrm>
          <a:prstGeom prst="ellipse">
            <a:avLst/>
          </a:prstGeom>
          <a:solidFill>
            <a:srgbClr val="C1A231"/>
          </a:solidFill>
          <a:ln w="12700">
            <a:solidFill>
              <a:srgbClr val="C1A23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54480" y="226771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 where you are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675120" y="22860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line of code and see the supercomputer answer back.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640080" cy="640080"/>
          </a:xfrm>
          <a:prstGeom prst="ellipse">
            <a:avLst/>
          </a:prstGeom>
          <a:solidFill>
            <a:srgbClr val="C1A231"/>
          </a:solidFill>
          <a:ln w="12700">
            <a:solidFill>
              <a:srgbClr val="C1A23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337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331927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core Python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675120" y="333756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math, text, lists, loops, decisions, and functions.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640080" cy="640080"/>
          </a:xfrm>
          <a:prstGeom prst="ellipse">
            <a:avLst/>
          </a:prstGeom>
          <a:solidFill>
            <a:srgbClr val="C1A231"/>
          </a:solidFill>
          <a:ln w="12700">
            <a:solidFill>
              <a:srgbClr val="C1A23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389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43708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many cores at once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675120" y="438912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task the slow way, then the fast way, and time the difference.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5440680"/>
            <a:ext cx="640080" cy="640080"/>
          </a:xfrm>
          <a:prstGeom prst="ellipse">
            <a:avLst/>
          </a:prstGeom>
          <a:solidFill>
            <a:srgbClr val="C1A231"/>
          </a:solidFill>
          <a:ln w="12700">
            <a:solidFill>
              <a:srgbClr val="C1A23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5440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554480" y="542239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ideas of HPC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675120" y="54406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Nodes, files, and how big jobs get scheduled.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185855" y="6217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840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THIS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won't watch a demo.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You'll be on the machine.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the TACC Analysis Portal (TAP) to open a Jupyter notebook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0E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on a Frontera compute node, right in your web browser.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solidFill>
            <a:srgbClr val="5A001C"/>
          </a:solidFill>
          <a:ln w="19050">
            <a:solidFill>
              <a:srgbClr val="C1A23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48006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1A2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notebook that opens is a real job running on Frontera. When it prints the computer's name, that machine is physically in Austin, Texas, and you're using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85855" y="6217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C1A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RULES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notebook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4754880" cy="1463040"/>
          </a:xfrm>
          <a:prstGeom prst="roundRect">
            <a:avLst>
              <a:gd name="adj" fmla="val 7500"/>
            </a:avLst>
          </a:prstGeom>
          <a:solidFill>
            <a:srgbClr val="EFEDEA"/>
          </a:solidFill>
          <a:ln w="19050">
            <a:solidFill>
              <a:srgbClr val="8400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28600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8400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+ Enter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E6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cell you're in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2160" y="228600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cells in order, top to bottom.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values. Make them yours.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breaks, just re-run it. Nothing you do can harm the computer.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the moment you're stuck.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51206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40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things and fixing them is how you learn to code.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85855" y="62179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E6E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400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02920" cy="502920"/>
          </a:xfrm>
          <a:prstGeom prst="ellipse">
            <a:avLst/>
          </a:prstGeom>
          <a:ln w="38100">
            <a:solidFill>
              <a:srgbClr val="C1A2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get you on the supercomputer.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7490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1A2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you're about to do, running code across many cores on Frontera, is the same kind of work computational scientists do. You belong in that room.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D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notebook, and slides:  ashleyscruse.github.io/pfx-hpc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2026-07-21T05:53:24Z</dcterms:created>
  <dcterms:modified xsi:type="dcterms:W3CDTF">2026-07-21T05:53:24Z</dcterms:modified>
</cp:coreProperties>
</file>